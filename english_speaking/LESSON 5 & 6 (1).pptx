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Gill Sans"/>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4L/zBJltOSqU38e4vptrmgL8A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GillSans-bold.fntdata"/><Relationship Id="rId10" Type="http://schemas.openxmlformats.org/officeDocument/2006/relationships/slide" Target="slides/slide5.xml"/><Relationship Id="rId21" Type="http://schemas.openxmlformats.org/officeDocument/2006/relationships/font" Target="fonts/GillSans-regular.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98062ab7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298062ab72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98062ab72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298062ab72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98062ab72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298062ab72f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98062ab72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298062ab72f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98062ab72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298062ab72f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98062ab72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298062ab72f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4" name="Google Shape;14;p1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5"/>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5"/>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26" name="Google Shape;26;p1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13"/>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2" name="Google Shape;32;p1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16"/>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6"/>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38" name="Google Shape;38;p1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6"/>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17"/>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7"/>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4" name="Google Shape;44;p17"/>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5" name="Google Shape;45;p1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7"/>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18"/>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chemeClr val="accent2"/>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0" name="Google Shape;50;p18"/>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1" name="Google Shape;51;p18"/>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2" name="Google Shape;52;p18"/>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chemeClr val="accent2"/>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53" name="Google Shape;53;p1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8"/>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6" name="Google Shape;56;p18"/>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19"/>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2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1"/>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1"/>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1"/>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70" name="Google Shape;70;p21"/>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1" name="Google Shape;71;p2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804672" y="6236208"/>
            <a:ext cx="5167503"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22"/>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2"/>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2"/>
          <p:cNvSpPr/>
          <p:nvPr>
            <p:ph idx="2" type="pic"/>
          </p:nvPr>
        </p:nvSpPr>
        <p:spPr>
          <a:xfrm>
            <a:off x="6095999" y="0"/>
            <a:ext cx="6102097" cy="6858000"/>
          </a:xfrm>
          <a:prstGeom prst="rect">
            <a:avLst/>
          </a:prstGeom>
          <a:solidFill>
            <a:srgbClr val="BFBFBF"/>
          </a:solidFill>
          <a:ln>
            <a:noFill/>
          </a:ln>
        </p:spPr>
      </p:sp>
      <p:sp>
        <p:nvSpPr>
          <p:cNvPr id="78" name="Google Shape;78;p22"/>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79" name="Google Shape;79;p2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2"/>
          <p:cNvSpPr txBox="1"/>
          <p:nvPr>
            <p:ph idx="11" type="ftr"/>
          </p:nvPr>
        </p:nvSpPr>
        <p:spPr>
          <a:xfrm>
            <a:off x="808523" y="6236208"/>
            <a:ext cx="510372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2"/>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23"/>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3"/>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5" name="Google Shape;85;p2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3"/>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24"/>
          <p:cNvSpPr txBox="1"/>
          <p:nvPr>
            <p:ph type="title"/>
          </p:nvPr>
        </p:nvSpPr>
        <p:spPr>
          <a:xfrm rot="5400000">
            <a:off x="6810676" y="2779696"/>
            <a:ext cx="4983480" cy="1298608"/>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24"/>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1" name="Google Shape;91;p2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4"/>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FDF1"/>
            </a:gs>
            <a:gs pos="74000">
              <a:srgbClr val="DEE892"/>
            </a:gs>
            <a:gs pos="83000">
              <a:srgbClr val="DEE892"/>
            </a:gs>
            <a:gs pos="100000">
              <a:srgbClr val="E9F0B5"/>
            </a:gs>
          </a:gsLst>
          <a:lin ang="5400000" scaled="0"/>
        </a:gra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2231136" y="964692"/>
            <a:ext cx="7729728" cy="1188720"/>
          </a:xfrm>
          <a:prstGeom prst="rect">
            <a:avLst/>
          </a:prstGeom>
          <a:solidFill>
            <a:schemeClr val="dk1"/>
          </a:solidFill>
          <a:ln cap="sq" cmpd="sng" w="31750">
            <a:solidFill>
              <a:srgbClr val="FEFEFE"/>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FEFEFE"/>
              </a:buClr>
              <a:buSzPts val="2800"/>
              <a:buFont typeface="Gill Sans"/>
              <a:buNone/>
              <a:defRPr b="0" i="0" sz="2800" u="none" cap="none" strike="noStrike">
                <a:solidFill>
                  <a:srgbClr val="FEFEFE"/>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8" name="Google Shape;8;p1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9" name="Google Shape;9;p1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10" name="Google Shape;10;p12"/>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BFDF1"/>
            </a:gs>
            <a:gs pos="74000">
              <a:srgbClr val="DEE892"/>
            </a:gs>
            <a:gs pos="83000">
              <a:srgbClr val="DEE892"/>
            </a:gs>
            <a:gs pos="100000">
              <a:srgbClr val="E9F0B5"/>
            </a:gs>
          </a:gsLst>
          <a:lin ang="5400000" scaled="0"/>
        </a:gradFill>
      </p:bgPr>
    </p:bg>
    <p:spTree>
      <p:nvGrpSpPr>
        <p:cNvPr id="17" name="Shape 17"/>
        <p:cNvGrpSpPr/>
        <p:nvPr/>
      </p:nvGrpSpPr>
      <p:grpSpPr>
        <a:xfrm>
          <a:off x="0" y="0"/>
          <a:ext cx="0" cy="0"/>
          <a:chOff x="0" y="0"/>
          <a:chExt cx="0" cy="0"/>
        </a:xfrm>
      </p:grpSpPr>
      <p:sp>
        <p:nvSpPr>
          <p:cNvPr id="18" name="Google Shape;18;p11"/>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11"/>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20" name="Google Shape;20;p1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1" name="Google Shape;21;p1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2" name="Google Shape;22;p11"/>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LESSON 5 &amp; 6</a:t>
            </a:r>
            <a:endParaRPr/>
          </a:p>
        </p:txBody>
      </p:sp>
      <p:sp>
        <p:nvSpPr>
          <p:cNvPr id="99" name="Google Shape;99;p1"/>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000"/>
              <a:buNone/>
            </a:pPr>
            <a:r>
              <a:rPr b="1" lang="en-US">
                <a:solidFill>
                  <a:schemeClr val="dk1"/>
                </a:solidFill>
              </a:rPr>
              <a:t>Did you watch the lesson of Awal Sir?</a:t>
            </a:r>
            <a:endParaRPr b="1">
              <a:solidFill>
                <a:schemeClr val="dk1"/>
              </a:solidFill>
            </a:endParaRPr>
          </a:p>
        </p:txBody>
      </p:sp>
      <p:pic>
        <p:nvPicPr>
          <p:cNvPr id="100" name="Google Shape;100;p1"/>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LET’S RECAP!</a:t>
            </a:r>
            <a:endParaRPr/>
          </a:p>
        </p:txBody>
      </p:sp>
      <p:sp>
        <p:nvSpPr>
          <p:cNvPr id="106" name="Google Shape;106;p2"/>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Char char="•"/>
            </a:pPr>
            <a:r>
              <a:rPr lang="en-US"/>
              <a:t>Let’s recall what we learned in the last class. </a:t>
            </a:r>
            <a:endParaRPr/>
          </a:p>
          <a:p>
            <a:pPr indent="-228600" lvl="0" marL="228600" rtl="0" algn="l">
              <a:lnSpc>
                <a:spcPct val="100000"/>
              </a:lnSpc>
              <a:spcBef>
                <a:spcPts val="1000"/>
              </a:spcBef>
              <a:spcAft>
                <a:spcPts val="0"/>
              </a:spcAft>
              <a:buSzPts val="1800"/>
              <a:buChar char="•"/>
            </a:pPr>
            <a:r>
              <a:rPr lang="en-US"/>
              <a:t>Take a recap of the last session from the students.</a:t>
            </a:r>
            <a:endParaRPr/>
          </a:p>
          <a:p>
            <a:pPr indent="-228600" lvl="0" marL="228600" rtl="0" algn="l">
              <a:lnSpc>
                <a:spcPct val="100000"/>
              </a:lnSpc>
              <a:spcBef>
                <a:spcPts val="1000"/>
              </a:spcBef>
              <a:spcAft>
                <a:spcPts val="0"/>
              </a:spcAft>
              <a:buSzPts val="1800"/>
              <a:buChar char="•"/>
            </a:pPr>
            <a:r>
              <a:rPr lang="en-US"/>
              <a:t>Clear their doubts (if any).</a:t>
            </a:r>
            <a:endParaRPr/>
          </a:p>
          <a:p>
            <a:pPr indent="-228600" lvl="0" marL="228600" rtl="0" algn="l">
              <a:lnSpc>
                <a:spcPct val="100000"/>
              </a:lnSpc>
              <a:spcBef>
                <a:spcPts val="1000"/>
              </a:spcBef>
              <a:spcAft>
                <a:spcPts val="0"/>
              </a:spcAft>
              <a:buSzPts val="1800"/>
              <a:buChar char="•"/>
            </a:pPr>
            <a:r>
              <a:rPr lang="en-US"/>
              <a:t>Check the homework given in the previous class.</a:t>
            </a:r>
            <a:endParaRPr/>
          </a:p>
        </p:txBody>
      </p:sp>
      <p:pic>
        <p:nvPicPr>
          <p:cNvPr id="107" name="Google Shape;107;p2"/>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2231136" y="1054339"/>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374151"/>
              </a:buClr>
              <a:buSzPct val="100000"/>
              <a:buFont typeface="Arial"/>
              <a:buNone/>
            </a:pPr>
            <a:br>
              <a:rPr b="0" i="0" lang="en-US">
                <a:solidFill>
                  <a:srgbClr val="374151"/>
                </a:solidFill>
                <a:latin typeface="Arial"/>
                <a:ea typeface="Arial"/>
                <a:cs typeface="Arial"/>
                <a:sym typeface="Arial"/>
              </a:rPr>
            </a:br>
            <a:br>
              <a:rPr b="0" i="0" lang="en-US">
                <a:solidFill>
                  <a:srgbClr val="374151"/>
                </a:solidFill>
                <a:latin typeface="Arial"/>
                <a:ea typeface="Arial"/>
                <a:cs typeface="Arial"/>
                <a:sym typeface="Arial"/>
              </a:rPr>
            </a:br>
            <a:r>
              <a:rPr b="0" i="0" lang="en-US">
                <a:solidFill>
                  <a:srgbClr val="374151"/>
                </a:solidFill>
                <a:latin typeface="Arial"/>
                <a:ea typeface="Arial"/>
                <a:cs typeface="Arial"/>
                <a:sym typeface="Arial"/>
              </a:rPr>
              <a:t>TITLE: DESCRIBING SOMEONE ELSE'S STATE OR CONDITION</a:t>
            </a:r>
            <a:br>
              <a:rPr b="0" i="0" lang="en-US">
                <a:solidFill>
                  <a:srgbClr val="374151"/>
                </a:solidFill>
                <a:latin typeface="Arial"/>
                <a:ea typeface="Arial"/>
                <a:cs typeface="Arial"/>
                <a:sym typeface="Arial"/>
              </a:rPr>
            </a:br>
            <a:br>
              <a:rPr lang="en-US"/>
            </a:br>
            <a:endParaRPr/>
          </a:p>
        </p:txBody>
      </p:sp>
      <p:sp>
        <p:nvSpPr>
          <p:cNvPr id="113" name="Google Shape;113;p3"/>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Char char="•"/>
            </a:pPr>
            <a:r>
              <a:rPr b="0" i="0" lang="en-US">
                <a:solidFill>
                  <a:srgbClr val="374151"/>
                </a:solidFill>
                <a:latin typeface="Arial"/>
                <a:ea typeface="Arial"/>
                <a:cs typeface="Arial"/>
                <a:sym typeface="Arial"/>
              </a:rPr>
              <a:t>Introduction: In this lesson, we will learn how to describe someone else's state or condition in English. This is an essential skill for effective communication, whether it's in everyday conversations or professional settings. We will cover the use of commas, the placement of "not," and the correct use of "and" to construct clear and accurate sentences.</a:t>
            </a:r>
            <a:endParaRPr/>
          </a:p>
        </p:txBody>
      </p:sp>
      <p:pic>
        <p:nvPicPr>
          <p:cNvPr id="114" name="Google Shape;114;p3"/>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USE OF COMMAS:</a:t>
            </a:r>
            <a:br>
              <a:rPr b="0" i="0" lang="en-US">
                <a:solidFill>
                  <a:srgbClr val="374151"/>
                </a:solidFill>
                <a:latin typeface="Arial"/>
                <a:ea typeface="Arial"/>
                <a:cs typeface="Arial"/>
                <a:sym typeface="Arial"/>
              </a:rPr>
            </a:br>
            <a:endParaRPr/>
          </a:p>
        </p:txBody>
      </p:sp>
      <p:sp>
        <p:nvSpPr>
          <p:cNvPr id="120" name="Google Shape;120;p4"/>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Commas are used to separate items in a list or to set off additional information in a sentence.</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She is tall, friendly, and intelligent.</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He has a cat, a dog, and a bird.</a:t>
            </a:r>
            <a:endParaRPr/>
          </a:p>
          <a:p>
            <a:pPr indent="-184150" lvl="1" marL="742950" rtl="0" algn="l">
              <a:lnSpc>
                <a:spcPct val="100000"/>
              </a:lnSpc>
              <a:spcBef>
                <a:spcPts val="1000"/>
              </a:spcBef>
              <a:spcAft>
                <a:spcPts val="0"/>
              </a:spcAft>
              <a:buSzPts val="1600"/>
              <a:buFont typeface="Arial"/>
              <a:buNone/>
            </a:pPr>
            <a:r>
              <a:t/>
            </a:r>
            <a:endParaRPr>
              <a:solidFill>
                <a:srgbClr val="374151"/>
              </a:solidFill>
              <a:latin typeface="Arial"/>
              <a:ea typeface="Arial"/>
              <a:cs typeface="Arial"/>
              <a:sym typeface="Arial"/>
            </a:endParaRPr>
          </a:p>
          <a:p>
            <a:pPr indent="-285750" lvl="1" marL="742950" rtl="0" algn="l">
              <a:lnSpc>
                <a:spcPct val="100000"/>
              </a:lnSpc>
              <a:spcBef>
                <a:spcPts val="1000"/>
              </a:spcBef>
              <a:spcAft>
                <a:spcPts val="0"/>
              </a:spcAft>
              <a:buSzPts val="1600"/>
              <a:buFont typeface="Arial"/>
              <a:buChar char="•"/>
            </a:pPr>
            <a:r>
              <a:rPr b="1" i="0" lang="en-US">
                <a:solidFill>
                  <a:srgbClr val="374151"/>
                </a:solidFill>
                <a:latin typeface="Arial"/>
                <a:ea typeface="Arial"/>
                <a:cs typeface="Arial"/>
                <a:sym typeface="Arial"/>
              </a:rPr>
              <a:t>Can you describe yourself using commas? Write in the chatbox.</a:t>
            </a:r>
            <a:endParaRPr/>
          </a:p>
          <a:p>
            <a:pPr indent="-114300" lvl="0" marL="228600" rtl="0" algn="l">
              <a:lnSpc>
                <a:spcPct val="100000"/>
              </a:lnSpc>
              <a:spcBef>
                <a:spcPts val="1000"/>
              </a:spcBef>
              <a:spcAft>
                <a:spcPts val="0"/>
              </a:spcAft>
              <a:buSzPts val="1800"/>
              <a:buNone/>
            </a:pPr>
            <a:r>
              <a:t/>
            </a:r>
            <a:endParaRPr/>
          </a:p>
        </p:txBody>
      </p:sp>
      <p:pic>
        <p:nvPicPr>
          <p:cNvPr id="121" name="Google Shape;121;p4"/>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USING 'NOT' TO INDICATE NEGATION:</a:t>
            </a:r>
            <a:br>
              <a:rPr b="0" i="0" lang="en-US">
                <a:solidFill>
                  <a:srgbClr val="374151"/>
                </a:solidFill>
                <a:latin typeface="Arial"/>
                <a:ea typeface="Arial"/>
                <a:cs typeface="Arial"/>
                <a:sym typeface="Arial"/>
              </a:rPr>
            </a:br>
            <a:endParaRPr/>
          </a:p>
        </p:txBody>
      </p:sp>
      <p:sp>
        <p:nvSpPr>
          <p:cNvPr id="127" name="Google Shape;127;p5"/>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"Not" is used to negate or deny a statement.</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She is not happy. (This means she is unhappy.)</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He is not going to the party. (He is staying home.)</a:t>
            </a:r>
            <a:endParaRPr/>
          </a:p>
          <a:p>
            <a:pPr indent="-184150" lvl="1" marL="742950" rtl="0" algn="l">
              <a:lnSpc>
                <a:spcPct val="100000"/>
              </a:lnSpc>
              <a:spcBef>
                <a:spcPts val="1000"/>
              </a:spcBef>
              <a:spcAft>
                <a:spcPts val="0"/>
              </a:spcAft>
              <a:buSzPts val="1600"/>
              <a:buFont typeface="Arial"/>
              <a:buNone/>
            </a:pPr>
            <a:r>
              <a:t/>
            </a:r>
            <a:endParaRPr>
              <a:solidFill>
                <a:srgbClr val="374151"/>
              </a:solidFill>
              <a:latin typeface="Arial"/>
              <a:ea typeface="Arial"/>
              <a:cs typeface="Arial"/>
              <a:sym typeface="Arial"/>
            </a:endParaRPr>
          </a:p>
          <a:p>
            <a:pPr indent="-285750" lvl="1" marL="742950" rtl="0" algn="l">
              <a:lnSpc>
                <a:spcPct val="100000"/>
              </a:lnSpc>
              <a:spcBef>
                <a:spcPts val="1000"/>
              </a:spcBef>
              <a:spcAft>
                <a:spcPts val="0"/>
              </a:spcAft>
              <a:buSzPts val="1600"/>
              <a:buFont typeface="Arial"/>
              <a:buChar char="•"/>
            </a:pPr>
            <a:r>
              <a:rPr b="1" i="0" lang="en-US">
                <a:solidFill>
                  <a:srgbClr val="374151"/>
                </a:solidFill>
                <a:latin typeface="Arial"/>
                <a:ea typeface="Arial"/>
                <a:cs typeface="Arial"/>
                <a:sym typeface="Arial"/>
              </a:rPr>
              <a:t>Make 2 examples using ’not’ to negate or deny a statement.</a:t>
            </a:r>
            <a:endParaRPr/>
          </a:p>
          <a:p>
            <a:pPr indent="-114300" lvl="0" marL="228600" rtl="0" algn="l">
              <a:lnSpc>
                <a:spcPct val="100000"/>
              </a:lnSpc>
              <a:spcBef>
                <a:spcPts val="1000"/>
              </a:spcBef>
              <a:spcAft>
                <a:spcPts val="0"/>
              </a:spcAft>
              <a:buSzPts val="1800"/>
              <a:buNone/>
            </a:pPr>
            <a:r>
              <a:t/>
            </a:r>
            <a:endParaRPr/>
          </a:p>
        </p:txBody>
      </p:sp>
      <p:pic>
        <p:nvPicPr>
          <p:cNvPr id="128" name="Google Shape;128;p5"/>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USING 'AND' TO COMBINE INFORMATION:</a:t>
            </a:r>
            <a:br>
              <a:rPr b="0" i="0" lang="en-US">
                <a:solidFill>
                  <a:srgbClr val="374151"/>
                </a:solidFill>
                <a:latin typeface="Arial"/>
                <a:ea typeface="Arial"/>
                <a:cs typeface="Arial"/>
                <a:sym typeface="Arial"/>
              </a:rPr>
            </a:br>
            <a:endParaRPr/>
          </a:p>
        </p:txBody>
      </p:sp>
      <p:sp>
        <p:nvSpPr>
          <p:cNvPr id="134" name="Google Shape;134;p6"/>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"And" is used to connect two or more items or ideas.</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She is tall and intelligent. (She possesses both qualities.)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He likes to read and write. (He enjoys both activities.)</a:t>
            </a:r>
            <a:endParaRPr/>
          </a:p>
          <a:p>
            <a:pPr indent="-184150" lvl="1" marL="742950" rtl="0" algn="l">
              <a:lnSpc>
                <a:spcPct val="100000"/>
              </a:lnSpc>
              <a:spcBef>
                <a:spcPts val="1000"/>
              </a:spcBef>
              <a:spcAft>
                <a:spcPts val="0"/>
              </a:spcAft>
              <a:buSzPts val="1600"/>
              <a:buFont typeface="Arial"/>
              <a:buNone/>
            </a:pPr>
            <a:r>
              <a:t/>
            </a:r>
            <a:endParaRPr>
              <a:solidFill>
                <a:srgbClr val="374151"/>
              </a:solidFill>
              <a:latin typeface="Arial"/>
              <a:ea typeface="Arial"/>
              <a:cs typeface="Arial"/>
              <a:sym typeface="Arial"/>
            </a:endParaRPr>
          </a:p>
          <a:p>
            <a:pPr indent="-285750" lvl="1" marL="742950" rtl="0" algn="l">
              <a:lnSpc>
                <a:spcPct val="100000"/>
              </a:lnSpc>
              <a:spcBef>
                <a:spcPts val="1000"/>
              </a:spcBef>
              <a:spcAft>
                <a:spcPts val="0"/>
              </a:spcAft>
              <a:buSzPts val="1600"/>
              <a:buFont typeface="Arial"/>
              <a:buChar char="•"/>
            </a:pPr>
            <a:r>
              <a:rPr b="1" i="0" lang="en-US">
                <a:solidFill>
                  <a:srgbClr val="374151"/>
                </a:solidFill>
                <a:latin typeface="Arial"/>
                <a:ea typeface="Arial"/>
                <a:cs typeface="Arial"/>
                <a:sym typeface="Arial"/>
              </a:rPr>
              <a:t>Make 2 examples using ‘and’ to describe yourself.</a:t>
            </a:r>
            <a:endParaRPr/>
          </a:p>
          <a:p>
            <a:pPr indent="-114300" lvl="0" marL="228600" rtl="0" algn="l">
              <a:lnSpc>
                <a:spcPct val="100000"/>
              </a:lnSpc>
              <a:spcBef>
                <a:spcPts val="1000"/>
              </a:spcBef>
              <a:spcAft>
                <a:spcPts val="0"/>
              </a:spcAft>
              <a:buSzPts val="1800"/>
              <a:buNone/>
            </a:pPr>
            <a:r>
              <a:t/>
            </a:r>
            <a:endParaRPr/>
          </a:p>
        </p:txBody>
      </p:sp>
      <p:pic>
        <p:nvPicPr>
          <p:cNvPr id="135" name="Google Shape;135;p6"/>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DESCRIBING STATE OR CONDITION:</a:t>
            </a:r>
            <a:br>
              <a:rPr b="0" i="0" lang="en-US">
                <a:solidFill>
                  <a:srgbClr val="374151"/>
                </a:solidFill>
                <a:latin typeface="Arial"/>
                <a:ea typeface="Arial"/>
                <a:cs typeface="Arial"/>
                <a:sym typeface="Arial"/>
              </a:rPr>
            </a:br>
            <a:endParaRPr/>
          </a:p>
        </p:txBody>
      </p:sp>
      <p:sp>
        <p:nvSpPr>
          <p:cNvPr id="141" name="Google Shape;141;p7"/>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Here are some common adjectives to describe someone's state or condition:</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Happy, sad, tired, energetic, busy, relaxed, stressed, calm, excited, worried, confident, nervous, etc.</a:t>
            </a:r>
            <a:endParaRPr/>
          </a:p>
          <a:p>
            <a:pPr indent="-228600" lvl="0" marL="228600" rtl="0" algn="l">
              <a:lnSpc>
                <a:spcPct val="100000"/>
              </a:lnSpc>
              <a:spcBef>
                <a:spcPts val="1000"/>
              </a:spcBef>
              <a:spcAft>
                <a:spcPts val="0"/>
              </a:spcAft>
              <a:buSzPts val="1800"/>
              <a:buFont typeface="Arial"/>
              <a:buChar char="•"/>
            </a:pPr>
            <a:r>
              <a:rPr b="0" i="0" lang="en-US">
                <a:solidFill>
                  <a:srgbClr val="374151"/>
                </a:solidFill>
                <a:latin typeface="Arial"/>
                <a:ea typeface="Arial"/>
                <a:cs typeface="Arial"/>
                <a:sym typeface="Arial"/>
              </a:rPr>
              <a:t>Example Sentences:</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She is happy and excited about her new job.</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He is tired and needs some rest.</a:t>
            </a:r>
            <a:endParaRPr/>
          </a:p>
          <a:p>
            <a:pPr indent="-184150" lvl="1" marL="742950" rtl="0" algn="l">
              <a:lnSpc>
                <a:spcPct val="100000"/>
              </a:lnSpc>
              <a:spcBef>
                <a:spcPts val="1000"/>
              </a:spcBef>
              <a:spcAft>
                <a:spcPts val="0"/>
              </a:spcAft>
              <a:buSzPts val="1600"/>
              <a:buFont typeface="Arial"/>
              <a:buNone/>
            </a:pPr>
            <a:r>
              <a:t/>
            </a:r>
            <a:endParaRPr>
              <a:solidFill>
                <a:srgbClr val="374151"/>
              </a:solidFill>
              <a:latin typeface="Arial"/>
              <a:ea typeface="Arial"/>
              <a:cs typeface="Arial"/>
              <a:sym typeface="Arial"/>
            </a:endParaRPr>
          </a:p>
          <a:p>
            <a:pPr indent="-285750" lvl="1" marL="742950" rtl="0" algn="l">
              <a:lnSpc>
                <a:spcPct val="100000"/>
              </a:lnSpc>
              <a:spcBef>
                <a:spcPts val="1000"/>
              </a:spcBef>
              <a:spcAft>
                <a:spcPts val="0"/>
              </a:spcAft>
              <a:buSzPts val="1600"/>
              <a:buFont typeface="Arial"/>
              <a:buChar char="•"/>
            </a:pPr>
            <a:r>
              <a:rPr b="1" i="0" lang="en-US">
                <a:solidFill>
                  <a:srgbClr val="374151"/>
                </a:solidFill>
                <a:latin typeface="Arial"/>
                <a:ea typeface="Arial"/>
                <a:cs typeface="Arial"/>
                <a:sym typeface="Arial"/>
              </a:rPr>
              <a:t>Use and two adjectives to describe your state or condition right now.</a:t>
            </a:r>
            <a:endParaRPr/>
          </a:p>
          <a:p>
            <a:pPr indent="-114300" lvl="0" marL="228600" rtl="0" algn="l">
              <a:lnSpc>
                <a:spcPct val="100000"/>
              </a:lnSpc>
              <a:spcBef>
                <a:spcPts val="1000"/>
              </a:spcBef>
              <a:spcAft>
                <a:spcPts val="0"/>
              </a:spcAft>
              <a:buSzPts val="1800"/>
              <a:buNone/>
            </a:pPr>
            <a:r>
              <a:t/>
            </a:r>
            <a:endParaRPr/>
          </a:p>
        </p:txBody>
      </p:sp>
      <p:pic>
        <p:nvPicPr>
          <p:cNvPr id="142" name="Google Shape;142;p7"/>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PRACTICE EXERCISES:</a:t>
            </a:r>
            <a:br>
              <a:rPr b="0" i="0" lang="en-US">
                <a:solidFill>
                  <a:srgbClr val="374151"/>
                </a:solidFill>
                <a:latin typeface="Arial"/>
                <a:ea typeface="Arial"/>
                <a:cs typeface="Arial"/>
                <a:sym typeface="Arial"/>
              </a:rPr>
            </a:br>
            <a:endParaRPr/>
          </a:p>
        </p:txBody>
      </p:sp>
      <p:sp>
        <p:nvSpPr>
          <p:cNvPr id="148" name="Google Shape;148;p8"/>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Font typeface="Arial"/>
              <a:buChar char="•"/>
            </a:pPr>
            <a:r>
              <a:rPr b="0" i="0" lang="en-US">
                <a:solidFill>
                  <a:srgbClr val="374151"/>
                </a:solidFill>
                <a:latin typeface="Arial"/>
                <a:ea typeface="Arial"/>
                <a:cs typeface="Arial"/>
                <a:sym typeface="Arial"/>
              </a:rPr>
              <a:t>Fill in the blanks with the appropriate adjective and use commas, "not," and "and" as needed.</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She is _____, _____, and _____.</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He is _____ and _____, but _____ _____.</a:t>
            </a:r>
            <a:endParaRPr/>
          </a:p>
          <a:p>
            <a:pPr indent="-114300" lvl="0" marL="228600" rtl="0" algn="l">
              <a:lnSpc>
                <a:spcPct val="100000"/>
              </a:lnSpc>
              <a:spcBef>
                <a:spcPts val="1000"/>
              </a:spcBef>
              <a:spcAft>
                <a:spcPts val="0"/>
              </a:spcAft>
              <a:buSzPts val="1800"/>
              <a:buNone/>
            </a:pPr>
            <a:r>
              <a:t/>
            </a:r>
            <a:endParaRPr/>
          </a:p>
        </p:txBody>
      </p:sp>
      <p:pic>
        <p:nvPicPr>
          <p:cNvPr id="149" name="Google Shape;149;p8"/>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type="title"/>
          </p:nvPr>
        </p:nvSpPr>
        <p:spPr>
          <a:xfrm>
            <a:off x="2231136" y="964692"/>
            <a:ext cx="7729728" cy="118872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374151"/>
              </a:buClr>
              <a:buSzPts val="2800"/>
              <a:buFont typeface="Arial"/>
              <a:buNone/>
            </a:pPr>
            <a:r>
              <a:rPr b="0" i="0" lang="en-US">
                <a:solidFill>
                  <a:srgbClr val="374151"/>
                </a:solidFill>
                <a:latin typeface="Arial"/>
                <a:ea typeface="Arial"/>
                <a:cs typeface="Arial"/>
                <a:sym typeface="Arial"/>
              </a:rPr>
              <a:t>ANSWERS:</a:t>
            </a:r>
            <a:br>
              <a:rPr b="0" i="0" lang="en-US">
                <a:solidFill>
                  <a:srgbClr val="374151"/>
                </a:solidFill>
                <a:latin typeface="Arial"/>
                <a:ea typeface="Arial"/>
                <a:cs typeface="Arial"/>
                <a:sym typeface="Arial"/>
              </a:rPr>
            </a:br>
            <a:endParaRPr/>
          </a:p>
        </p:txBody>
      </p:sp>
      <p:sp>
        <p:nvSpPr>
          <p:cNvPr id="155" name="Google Shape;155;p9"/>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p>
            <a:pPr indent="-285750" lvl="1" marL="742950" rtl="0" algn="l">
              <a:lnSpc>
                <a:spcPct val="100000"/>
              </a:lnSpc>
              <a:spcBef>
                <a:spcPts val="0"/>
              </a:spcBef>
              <a:spcAft>
                <a:spcPts val="0"/>
              </a:spcAft>
              <a:buSzPts val="1600"/>
              <a:buFont typeface="Arial"/>
              <a:buChar char="•"/>
            </a:pPr>
            <a:r>
              <a:rPr b="0" i="0" lang="en-US">
                <a:solidFill>
                  <a:srgbClr val="374151"/>
                </a:solidFill>
                <a:latin typeface="Arial"/>
                <a:ea typeface="Arial"/>
                <a:cs typeface="Arial"/>
                <a:sym typeface="Arial"/>
              </a:rPr>
              <a:t>She is tall, friendly, and intelligent.</a:t>
            </a:r>
            <a:endParaRPr/>
          </a:p>
          <a:p>
            <a:pPr indent="-285750" lvl="1" marL="742950" rtl="0" algn="l">
              <a:lnSpc>
                <a:spcPct val="100000"/>
              </a:lnSpc>
              <a:spcBef>
                <a:spcPts val="1000"/>
              </a:spcBef>
              <a:spcAft>
                <a:spcPts val="0"/>
              </a:spcAft>
              <a:buSzPts val="1600"/>
              <a:buFont typeface="Arial"/>
              <a:buChar char="•"/>
            </a:pPr>
            <a:r>
              <a:rPr b="0" i="0" lang="en-US">
                <a:solidFill>
                  <a:srgbClr val="374151"/>
                </a:solidFill>
                <a:latin typeface="Arial"/>
                <a:ea typeface="Arial"/>
                <a:cs typeface="Arial"/>
                <a:sym typeface="Arial"/>
              </a:rPr>
              <a:t>He is busy and stressed, but not unhappy.</a:t>
            </a:r>
            <a:endParaRPr/>
          </a:p>
          <a:p>
            <a:pPr indent="-114300" lvl="0" marL="228600" rtl="0" algn="l">
              <a:lnSpc>
                <a:spcPct val="100000"/>
              </a:lnSpc>
              <a:spcBef>
                <a:spcPts val="1000"/>
              </a:spcBef>
              <a:spcAft>
                <a:spcPts val="0"/>
              </a:spcAft>
              <a:buSzPts val="1800"/>
              <a:buNone/>
            </a:pPr>
            <a:r>
              <a:t/>
            </a:r>
            <a:endParaRPr/>
          </a:p>
        </p:txBody>
      </p:sp>
      <p:pic>
        <p:nvPicPr>
          <p:cNvPr id="156" name="Google Shape;156;p9"/>
          <p:cNvPicPr preferRelativeResize="0"/>
          <p:nvPr/>
        </p:nvPicPr>
        <p:blipFill rotWithShape="1">
          <a:blip r:embed="rId3">
            <a:alphaModFix/>
          </a:blip>
          <a:srcRect b="0" l="0" r="0" t="0"/>
          <a:stretch/>
        </p:blipFill>
        <p:spPr>
          <a:xfrm>
            <a:off x="11388998" y="1"/>
            <a:ext cx="803002" cy="361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98062ab72f_0_0"/>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374151"/>
              </a:buClr>
              <a:buSzPct val="157142"/>
              <a:buFont typeface="Arial"/>
              <a:buNone/>
            </a:pPr>
            <a:r>
              <a:rPr b="0" i="0" lang="en-US">
                <a:solidFill>
                  <a:srgbClr val="374151"/>
                </a:solidFill>
                <a:latin typeface="Arial"/>
                <a:ea typeface="Arial"/>
                <a:cs typeface="Arial"/>
                <a:sym typeface="Arial"/>
              </a:rPr>
              <a:t>Title: Basic Usage of 'is' and 'are' with Contractions</a:t>
            </a:r>
            <a:br>
              <a:rPr b="0" i="0" lang="en-US">
                <a:solidFill>
                  <a:srgbClr val="374151"/>
                </a:solidFill>
                <a:latin typeface="Arial"/>
                <a:ea typeface="Arial"/>
                <a:cs typeface="Arial"/>
                <a:sym typeface="Arial"/>
              </a:rPr>
            </a:br>
            <a:endParaRPr/>
          </a:p>
        </p:txBody>
      </p:sp>
      <p:sp>
        <p:nvSpPr>
          <p:cNvPr id="162" name="Google Shape;162;g298062ab72f_0_0"/>
          <p:cNvSpPr txBox="1"/>
          <p:nvPr>
            <p:ph idx="1" type="body"/>
          </p:nvPr>
        </p:nvSpPr>
        <p:spPr>
          <a:xfrm>
            <a:off x="2231136" y="2638044"/>
            <a:ext cx="7729800" cy="31020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b="0" i="0" lang="en-US">
                <a:solidFill>
                  <a:srgbClr val="374151"/>
                </a:solidFill>
                <a:latin typeface="Arial"/>
                <a:ea typeface="Arial"/>
                <a:cs typeface="Arial"/>
                <a:sym typeface="Arial"/>
              </a:rPr>
              <a:t>Introduction: In this lesson, we will learn about the basic usage of the verbs 'is' and 'are' in English. These two verbs are essential in constructing sentences and expressing various ideas. We will also cover basic contractions, which are shortened forms of words, commonly used in spoken English.</a:t>
            </a:r>
            <a:endParaRPr/>
          </a:p>
        </p:txBody>
      </p:sp>
      <p:pic>
        <p:nvPicPr>
          <p:cNvPr id="163" name="Google Shape;163;g298062ab72f_0_0"/>
          <p:cNvPicPr preferRelativeResize="0"/>
          <p:nvPr/>
        </p:nvPicPr>
        <p:blipFill rotWithShape="1">
          <a:blip r:embed="rId3">
            <a:alphaModFix/>
          </a:blip>
          <a:srcRect b="0" l="0" r="0" t="0"/>
          <a:stretch/>
        </p:blipFill>
        <p:spPr>
          <a:xfrm>
            <a:off x="11134445" y="0"/>
            <a:ext cx="1057555" cy="47668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98062ab72f_0_6"/>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74151"/>
              </a:buClr>
              <a:buSzPts val="4400"/>
              <a:buFont typeface="Arial"/>
              <a:buNone/>
            </a:pPr>
            <a:r>
              <a:rPr b="0" i="0" lang="en-US">
                <a:solidFill>
                  <a:srgbClr val="374151"/>
                </a:solidFill>
                <a:latin typeface="Arial"/>
                <a:ea typeface="Arial"/>
                <a:cs typeface="Arial"/>
                <a:sym typeface="Arial"/>
              </a:rPr>
              <a:t>'is' - Singular form:</a:t>
            </a:r>
            <a:br>
              <a:rPr b="0" i="0" lang="en-US">
                <a:solidFill>
                  <a:srgbClr val="374151"/>
                </a:solidFill>
                <a:latin typeface="Arial"/>
                <a:ea typeface="Arial"/>
                <a:cs typeface="Arial"/>
                <a:sym typeface="Arial"/>
              </a:rPr>
            </a:br>
            <a:endParaRPr/>
          </a:p>
        </p:txBody>
      </p:sp>
      <p:sp>
        <p:nvSpPr>
          <p:cNvPr id="169" name="Google Shape;169;g298062ab72f_0_6"/>
          <p:cNvSpPr txBox="1"/>
          <p:nvPr>
            <p:ph idx="1" type="body"/>
          </p:nvPr>
        </p:nvSpPr>
        <p:spPr>
          <a:xfrm>
            <a:off x="2231136" y="2638044"/>
            <a:ext cx="7729800" cy="3102000"/>
          </a:xfrm>
          <a:prstGeom prst="rect">
            <a:avLst/>
          </a:prstGeom>
          <a:noFill/>
          <a:ln>
            <a:noFill/>
          </a:ln>
        </p:spPr>
        <p:txBody>
          <a:bodyPr anchorCtr="0" anchor="t" bIns="45700" lIns="91425" spcFirstLastPara="1" rIns="91425" wrap="square" tIns="45700">
            <a:noAutofit/>
          </a:bodyPr>
          <a:lstStyle/>
          <a:p>
            <a:pPr indent="-251968" lvl="0" marL="285750" rtl="0" algn="l">
              <a:spcBef>
                <a:spcPts val="0"/>
              </a:spcBef>
              <a:spcAft>
                <a:spcPts val="0"/>
              </a:spcAft>
              <a:buSzPts val="1400"/>
              <a:buFont typeface="Arial"/>
              <a:buChar char="•"/>
            </a:pPr>
            <a:r>
              <a:rPr b="0" i="0" lang="en-US" sz="1400">
                <a:solidFill>
                  <a:srgbClr val="374151"/>
                </a:solidFill>
                <a:latin typeface="Arial"/>
                <a:ea typeface="Arial"/>
                <a:cs typeface="Arial"/>
                <a:sym typeface="Arial"/>
              </a:rPr>
              <a:t>Meaning: 'Is' is a singular form of the verb 'to be.' It is used when referring to one person, thing, or situation.</a:t>
            </a:r>
            <a:endParaRPr sz="1400"/>
          </a:p>
          <a:p>
            <a:pPr indent="-251968" lvl="0" marL="285750" rtl="0" algn="l">
              <a:spcBef>
                <a:spcPts val="936"/>
              </a:spcBef>
              <a:spcAft>
                <a:spcPts val="0"/>
              </a:spcAft>
              <a:buSzPts val="1400"/>
              <a:buFont typeface="Arial"/>
              <a:buChar char="•"/>
            </a:pPr>
            <a:r>
              <a:rPr b="0" i="0" lang="en-US" sz="1400">
                <a:solidFill>
                  <a:srgbClr val="374151"/>
                </a:solidFill>
                <a:latin typeface="Arial"/>
                <a:ea typeface="Arial"/>
                <a:cs typeface="Arial"/>
                <a:sym typeface="Arial"/>
              </a:rPr>
              <a:t>Example sentences:</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She is my sister.</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The cat is on the table.</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This book is interesting.</a:t>
            </a:r>
            <a:endParaRPr sz="1400"/>
          </a:p>
          <a:p>
            <a:pPr indent="0" lvl="1" marL="457200" rtl="0" algn="l">
              <a:spcBef>
                <a:spcPts val="880"/>
              </a:spcBef>
              <a:spcAft>
                <a:spcPts val="0"/>
              </a:spcAft>
              <a:buSzPts val="2300"/>
              <a:buNone/>
            </a:pPr>
            <a:r>
              <a:rPr b="1" i="0" lang="en-US" sz="1400">
                <a:solidFill>
                  <a:srgbClr val="374151"/>
                </a:solidFill>
                <a:latin typeface="Arial"/>
                <a:ea typeface="Arial"/>
                <a:cs typeface="Arial"/>
                <a:sym typeface="Arial"/>
              </a:rPr>
              <a:t>Make 2 examples from ‘is’</a:t>
            </a:r>
            <a:endParaRPr sz="1400"/>
          </a:p>
          <a:p>
            <a:pPr indent="-251968" lvl="0" marL="285750" rtl="0" algn="l">
              <a:spcBef>
                <a:spcPts val="936"/>
              </a:spcBef>
              <a:spcAft>
                <a:spcPts val="0"/>
              </a:spcAft>
              <a:buSzPts val="1400"/>
              <a:buFont typeface="Arial"/>
              <a:buChar char="•"/>
            </a:pPr>
            <a:r>
              <a:rPr b="0" i="0" lang="en-US" sz="1400">
                <a:solidFill>
                  <a:srgbClr val="374151"/>
                </a:solidFill>
                <a:latin typeface="Arial"/>
                <a:ea typeface="Arial"/>
                <a:cs typeface="Arial"/>
                <a:sym typeface="Arial"/>
              </a:rPr>
              <a:t>Contractions:</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She's my sister. (She is)</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It's raining outside. (It is)</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He's a good friend. (He is)</a:t>
            </a:r>
            <a:endParaRPr sz="1400"/>
          </a:p>
          <a:p>
            <a:pPr indent="0" lvl="1" marL="457200" rtl="0" algn="l">
              <a:spcBef>
                <a:spcPts val="880"/>
              </a:spcBef>
              <a:spcAft>
                <a:spcPts val="0"/>
              </a:spcAft>
              <a:buSzPts val="2300"/>
              <a:buNone/>
            </a:pPr>
            <a:r>
              <a:t/>
            </a:r>
            <a:endParaRPr b="0" i="0" sz="1400">
              <a:solidFill>
                <a:srgbClr val="374151"/>
              </a:solidFill>
              <a:latin typeface="Arial"/>
              <a:ea typeface="Arial"/>
              <a:cs typeface="Arial"/>
              <a:sym typeface="Arial"/>
            </a:endParaRPr>
          </a:p>
          <a:p>
            <a:pPr indent="-163068" lvl="0" marL="285750" rtl="0" algn="l">
              <a:spcBef>
                <a:spcPts val="936"/>
              </a:spcBef>
              <a:spcAft>
                <a:spcPts val="0"/>
              </a:spcAft>
              <a:buSzPts val="2760"/>
              <a:buNone/>
            </a:pPr>
            <a:r>
              <a:t/>
            </a:r>
            <a:endParaRPr sz="1400"/>
          </a:p>
        </p:txBody>
      </p:sp>
      <p:pic>
        <p:nvPicPr>
          <p:cNvPr id="170" name="Google Shape;170;g298062ab72f_0_6"/>
          <p:cNvPicPr preferRelativeResize="0"/>
          <p:nvPr/>
        </p:nvPicPr>
        <p:blipFill rotWithShape="1">
          <a:blip r:embed="rId3">
            <a:alphaModFix/>
          </a:blip>
          <a:srcRect b="0" l="0" r="0" t="0"/>
          <a:stretch/>
        </p:blipFill>
        <p:spPr>
          <a:xfrm>
            <a:off x="11134445" y="0"/>
            <a:ext cx="1057555" cy="47668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98062ab72f_0_12"/>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74151"/>
              </a:buClr>
              <a:buSzPts val="4400"/>
              <a:buFont typeface="Arial"/>
              <a:buNone/>
            </a:pPr>
            <a:r>
              <a:rPr b="0" i="0" lang="en-US">
                <a:solidFill>
                  <a:srgbClr val="374151"/>
                </a:solidFill>
                <a:latin typeface="Arial"/>
                <a:ea typeface="Arial"/>
                <a:cs typeface="Arial"/>
                <a:sym typeface="Arial"/>
              </a:rPr>
              <a:t>'are' - Plural form:</a:t>
            </a:r>
            <a:br>
              <a:rPr b="0" i="0" lang="en-US">
                <a:solidFill>
                  <a:srgbClr val="374151"/>
                </a:solidFill>
                <a:latin typeface="Arial"/>
                <a:ea typeface="Arial"/>
                <a:cs typeface="Arial"/>
                <a:sym typeface="Arial"/>
              </a:rPr>
            </a:br>
            <a:endParaRPr/>
          </a:p>
        </p:txBody>
      </p:sp>
      <p:sp>
        <p:nvSpPr>
          <p:cNvPr id="176" name="Google Shape;176;g298062ab72f_0_12"/>
          <p:cNvSpPr txBox="1"/>
          <p:nvPr>
            <p:ph idx="1" type="body"/>
          </p:nvPr>
        </p:nvSpPr>
        <p:spPr>
          <a:xfrm>
            <a:off x="2231136" y="2638044"/>
            <a:ext cx="7729800" cy="3102000"/>
          </a:xfrm>
          <a:prstGeom prst="rect">
            <a:avLst/>
          </a:prstGeom>
          <a:noFill/>
          <a:ln>
            <a:noFill/>
          </a:ln>
        </p:spPr>
        <p:txBody>
          <a:bodyPr anchorCtr="0" anchor="t" bIns="45700" lIns="91425" spcFirstLastPara="1" rIns="91425" wrap="square" tIns="45700">
            <a:noAutofit/>
          </a:bodyPr>
          <a:lstStyle/>
          <a:p>
            <a:pPr indent="-251968" lvl="0" marL="285750" rtl="0" algn="l">
              <a:spcBef>
                <a:spcPts val="0"/>
              </a:spcBef>
              <a:spcAft>
                <a:spcPts val="0"/>
              </a:spcAft>
              <a:buSzPts val="1400"/>
              <a:buFont typeface="Arial"/>
              <a:buChar char="•"/>
            </a:pPr>
            <a:r>
              <a:rPr b="0" i="0" lang="en-US" sz="1400">
                <a:solidFill>
                  <a:srgbClr val="374151"/>
                </a:solidFill>
                <a:latin typeface="Arial"/>
                <a:ea typeface="Arial"/>
                <a:cs typeface="Arial"/>
                <a:sym typeface="Arial"/>
              </a:rPr>
              <a:t>Meaning: 'Are' is the plural form of the verb 'to be.' It is used when referring to more than one person, thing, or situation.</a:t>
            </a:r>
            <a:endParaRPr sz="1400"/>
          </a:p>
          <a:p>
            <a:pPr indent="-251968" lvl="0" marL="285750" rtl="0" algn="l">
              <a:spcBef>
                <a:spcPts val="936"/>
              </a:spcBef>
              <a:spcAft>
                <a:spcPts val="0"/>
              </a:spcAft>
              <a:buSzPts val="1400"/>
              <a:buFont typeface="Arial"/>
              <a:buChar char="•"/>
            </a:pPr>
            <a:r>
              <a:rPr b="0" i="0" lang="en-US" sz="1400">
                <a:solidFill>
                  <a:srgbClr val="374151"/>
                </a:solidFill>
                <a:latin typeface="Arial"/>
                <a:ea typeface="Arial"/>
                <a:cs typeface="Arial"/>
                <a:sym typeface="Arial"/>
              </a:rPr>
              <a:t>Example sentences:</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They are my friends.</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The dogs are playing in the park.</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We are studying English.</a:t>
            </a:r>
            <a:endParaRPr sz="1400"/>
          </a:p>
          <a:p>
            <a:pPr indent="0" lvl="1" marL="457200" rtl="0" algn="l">
              <a:spcBef>
                <a:spcPts val="880"/>
              </a:spcBef>
              <a:spcAft>
                <a:spcPts val="0"/>
              </a:spcAft>
              <a:buSzPts val="2300"/>
              <a:buNone/>
            </a:pPr>
            <a:r>
              <a:rPr b="1" i="0" lang="en-US" sz="1400">
                <a:solidFill>
                  <a:srgbClr val="374151"/>
                </a:solidFill>
                <a:latin typeface="Arial"/>
                <a:ea typeface="Arial"/>
                <a:cs typeface="Arial"/>
                <a:sym typeface="Arial"/>
              </a:rPr>
              <a:t>Make 2 examples from ‘are’</a:t>
            </a:r>
            <a:endParaRPr sz="1400"/>
          </a:p>
          <a:p>
            <a:pPr indent="-251968" lvl="0" marL="285750" rtl="0" algn="l">
              <a:spcBef>
                <a:spcPts val="936"/>
              </a:spcBef>
              <a:spcAft>
                <a:spcPts val="0"/>
              </a:spcAft>
              <a:buSzPts val="1400"/>
              <a:buFont typeface="Arial"/>
              <a:buChar char="•"/>
            </a:pPr>
            <a:r>
              <a:rPr b="0" i="0" lang="en-US" sz="1400">
                <a:solidFill>
                  <a:srgbClr val="374151"/>
                </a:solidFill>
                <a:latin typeface="Arial"/>
                <a:ea typeface="Arial"/>
                <a:cs typeface="Arial"/>
                <a:sym typeface="Arial"/>
              </a:rPr>
              <a:t>Contractions:</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They're my friends. (They are)</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The kids are playing. (The kids are)</a:t>
            </a:r>
            <a:endParaRPr sz="1400"/>
          </a:p>
          <a:p>
            <a:pPr indent="-272415" lvl="1" marL="742950" rtl="0" algn="l">
              <a:spcBef>
                <a:spcPts val="880"/>
              </a:spcBef>
              <a:spcAft>
                <a:spcPts val="0"/>
              </a:spcAft>
              <a:buSzPts val="1400"/>
              <a:buFont typeface="Arial"/>
              <a:buChar char="•"/>
            </a:pPr>
            <a:r>
              <a:rPr b="0" i="0" lang="en-US" sz="1400">
                <a:solidFill>
                  <a:srgbClr val="374151"/>
                </a:solidFill>
                <a:latin typeface="Arial"/>
                <a:ea typeface="Arial"/>
                <a:cs typeface="Arial"/>
                <a:sym typeface="Arial"/>
              </a:rPr>
              <a:t>We're learning English. (We are)</a:t>
            </a:r>
            <a:endParaRPr sz="1400"/>
          </a:p>
          <a:p>
            <a:pPr indent="-163068" lvl="0" marL="285750" rtl="0" algn="l">
              <a:spcBef>
                <a:spcPts val="936"/>
              </a:spcBef>
              <a:spcAft>
                <a:spcPts val="0"/>
              </a:spcAft>
              <a:buSzPts val="2760"/>
              <a:buNone/>
            </a:pPr>
            <a:r>
              <a:t/>
            </a:r>
            <a:endParaRPr sz="1400"/>
          </a:p>
        </p:txBody>
      </p:sp>
      <p:pic>
        <p:nvPicPr>
          <p:cNvPr id="177" name="Google Shape;177;g298062ab72f_0_12"/>
          <p:cNvPicPr preferRelativeResize="0"/>
          <p:nvPr/>
        </p:nvPicPr>
        <p:blipFill rotWithShape="1">
          <a:blip r:embed="rId3">
            <a:alphaModFix/>
          </a:blip>
          <a:srcRect b="0" l="0" r="0" t="0"/>
          <a:stretch/>
        </p:blipFill>
        <p:spPr>
          <a:xfrm>
            <a:off x="11134445" y="0"/>
            <a:ext cx="1057555" cy="47668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98062ab72f_0_18"/>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74151"/>
              </a:buClr>
              <a:buSzPts val="4400"/>
              <a:buFont typeface="Arial"/>
              <a:buNone/>
            </a:pPr>
            <a:r>
              <a:rPr b="0" i="0" lang="en-US">
                <a:solidFill>
                  <a:srgbClr val="374151"/>
                </a:solidFill>
                <a:latin typeface="Arial"/>
                <a:ea typeface="Arial"/>
                <a:cs typeface="Arial"/>
                <a:sym typeface="Arial"/>
              </a:rPr>
              <a:t>Basic contractions:</a:t>
            </a:r>
            <a:br>
              <a:rPr b="0" i="0" lang="en-US">
                <a:solidFill>
                  <a:srgbClr val="374151"/>
                </a:solidFill>
                <a:latin typeface="Arial"/>
                <a:ea typeface="Arial"/>
                <a:cs typeface="Arial"/>
                <a:sym typeface="Arial"/>
              </a:rPr>
            </a:br>
            <a:endParaRPr/>
          </a:p>
        </p:txBody>
      </p:sp>
      <p:sp>
        <p:nvSpPr>
          <p:cNvPr id="183" name="Google Shape;183;g298062ab72f_0_18"/>
          <p:cNvSpPr txBox="1"/>
          <p:nvPr>
            <p:ph idx="1" type="body"/>
          </p:nvPr>
        </p:nvSpPr>
        <p:spPr>
          <a:xfrm>
            <a:off x="2231136" y="2638044"/>
            <a:ext cx="7729800" cy="3102000"/>
          </a:xfrm>
          <a:prstGeom prst="rect">
            <a:avLst/>
          </a:prstGeom>
          <a:noFill/>
          <a:ln>
            <a:noFill/>
          </a:ln>
        </p:spPr>
        <p:txBody>
          <a:bodyPr anchorCtr="0" anchor="t" bIns="45700" lIns="91425" spcFirstLastPara="1" rIns="91425" wrap="square" tIns="45700">
            <a:noAutofit/>
          </a:bodyPr>
          <a:lstStyle/>
          <a:p>
            <a:pPr indent="-225679" lvl="0" marL="285750" rtl="0" algn="l">
              <a:spcBef>
                <a:spcPts val="0"/>
              </a:spcBef>
              <a:spcAft>
                <a:spcPts val="0"/>
              </a:spcAft>
              <a:buSzPts val="1400"/>
              <a:buFont typeface="Arial"/>
              <a:buChar char="•"/>
            </a:pPr>
            <a:r>
              <a:rPr b="0" i="0" lang="en-US" sz="1400">
                <a:solidFill>
                  <a:srgbClr val="374151"/>
                </a:solidFill>
                <a:latin typeface="Arial"/>
                <a:ea typeface="Arial"/>
                <a:cs typeface="Arial"/>
                <a:sym typeface="Arial"/>
              </a:rPr>
              <a:t>'is' + 'not' = isn't</a:t>
            </a:r>
            <a:endParaRPr sz="1400"/>
          </a:p>
          <a:p>
            <a:pPr indent="-250507" lvl="1" marL="742950" rtl="0" algn="l">
              <a:spcBef>
                <a:spcPts val="940"/>
              </a:spcBef>
              <a:spcAft>
                <a:spcPts val="0"/>
              </a:spcAft>
              <a:buSzPts val="1400"/>
              <a:buFont typeface="Arial"/>
              <a:buChar char="•"/>
            </a:pPr>
            <a:r>
              <a:rPr b="0" i="0" lang="en-US" sz="1400">
                <a:solidFill>
                  <a:srgbClr val="374151"/>
                </a:solidFill>
                <a:latin typeface="Arial"/>
                <a:ea typeface="Arial"/>
                <a:cs typeface="Arial"/>
                <a:sym typeface="Arial"/>
              </a:rPr>
              <a:t>Example sentences:</a:t>
            </a:r>
            <a:endParaRPr sz="1400"/>
          </a:p>
          <a:p>
            <a:pPr indent="-205771" lvl="2" marL="1143000" rtl="0" algn="l">
              <a:spcBef>
                <a:spcPts val="906"/>
              </a:spcBef>
              <a:spcAft>
                <a:spcPts val="0"/>
              </a:spcAft>
              <a:buSzPts val="1400"/>
              <a:buFont typeface="Arial"/>
              <a:buChar char="•"/>
            </a:pPr>
            <a:r>
              <a:rPr b="0" i="0" lang="en-US" sz="1400">
                <a:solidFill>
                  <a:srgbClr val="374151"/>
                </a:solidFill>
                <a:latin typeface="Arial"/>
                <a:ea typeface="Arial"/>
                <a:cs typeface="Arial"/>
                <a:sym typeface="Arial"/>
              </a:rPr>
              <a:t>She isn't here.</a:t>
            </a:r>
            <a:endParaRPr sz="1400"/>
          </a:p>
          <a:p>
            <a:pPr indent="-205771" lvl="2" marL="1143000" rtl="0" algn="l">
              <a:spcBef>
                <a:spcPts val="906"/>
              </a:spcBef>
              <a:spcAft>
                <a:spcPts val="0"/>
              </a:spcAft>
              <a:buSzPts val="1400"/>
              <a:buFont typeface="Arial"/>
              <a:buChar char="•"/>
            </a:pPr>
            <a:r>
              <a:rPr b="0" i="0" lang="en-US" sz="1400">
                <a:solidFill>
                  <a:srgbClr val="374151"/>
                </a:solidFill>
                <a:latin typeface="Arial"/>
                <a:ea typeface="Arial"/>
                <a:cs typeface="Arial"/>
                <a:sym typeface="Arial"/>
              </a:rPr>
              <a:t>It isn't raining.</a:t>
            </a:r>
            <a:endParaRPr sz="1400"/>
          </a:p>
          <a:p>
            <a:pPr indent="0" lvl="2" marL="914400" rtl="0" algn="l">
              <a:spcBef>
                <a:spcPts val="906"/>
              </a:spcBef>
              <a:spcAft>
                <a:spcPts val="0"/>
              </a:spcAft>
              <a:buSzPts val="2070"/>
              <a:buNone/>
            </a:pPr>
            <a:r>
              <a:rPr b="1" i="0" lang="en-US" sz="1400">
                <a:solidFill>
                  <a:srgbClr val="374151"/>
                </a:solidFill>
                <a:latin typeface="Arial"/>
                <a:ea typeface="Arial"/>
                <a:cs typeface="Arial"/>
                <a:sym typeface="Arial"/>
              </a:rPr>
              <a:t>Make 2 examples from ‘-isn’t’</a:t>
            </a:r>
            <a:endParaRPr sz="1400"/>
          </a:p>
          <a:p>
            <a:pPr indent="-225679" lvl="0" marL="285750" rtl="0" algn="l">
              <a:spcBef>
                <a:spcPts val="1008"/>
              </a:spcBef>
              <a:spcAft>
                <a:spcPts val="0"/>
              </a:spcAft>
              <a:buSzPts val="1400"/>
              <a:buFont typeface="Arial"/>
              <a:buChar char="•"/>
            </a:pPr>
            <a:r>
              <a:rPr b="0" i="0" lang="en-US" sz="1400">
                <a:solidFill>
                  <a:srgbClr val="374151"/>
                </a:solidFill>
                <a:latin typeface="Arial"/>
                <a:ea typeface="Arial"/>
                <a:cs typeface="Arial"/>
                <a:sym typeface="Arial"/>
              </a:rPr>
              <a:t>'are' + 'not' = aren't</a:t>
            </a:r>
            <a:endParaRPr sz="1400"/>
          </a:p>
          <a:p>
            <a:pPr indent="-250507" lvl="1" marL="742950" rtl="0" algn="l">
              <a:spcBef>
                <a:spcPts val="940"/>
              </a:spcBef>
              <a:spcAft>
                <a:spcPts val="0"/>
              </a:spcAft>
              <a:buSzPts val="1400"/>
              <a:buFont typeface="Arial"/>
              <a:buChar char="•"/>
            </a:pPr>
            <a:r>
              <a:rPr b="0" i="0" lang="en-US" sz="1400">
                <a:solidFill>
                  <a:srgbClr val="374151"/>
                </a:solidFill>
                <a:latin typeface="Arial"/>
                <a:ea typeface="Arial"/>
                <a:cs typeface="Arial"/>
                <a:sym typeface="Arial"/>
              </a:rPr>
              <a:t>Example sentences:</a:t>
            </a:r>
            <a:endParaRPr sz="1400"/>
          </a:p>
          <a:p>
            <a:pPr indent="-205771" lvl="2" marL="1143000" rtl="0" algn="l">
              <a:spcBef>
                <a:spcPts val="906"/>
              </a:spcBef>
              <a:spcAft>
                <a:spcPts val="0"/>
              </a:spcAft>
              <a:buSzPts val="1400"/>
              <a:buFont typeface="Arial"/>
              <a:buChar char="•"/>
            </a:pPr>
            <a:r>
              <a:rPr b="0" i="0" lang="en-US" sz="1400">
                <a:solidFill>
                  <a:srgbClr val="374151"/>
                </a:solidFill>
                <a:latin typeface="Arial"/>
                <a:ea typeface="Arial"/>
                <a:cs typeface="Arial"/>
                <a:sym typeface="Arial"/>
              </a:rPr>
              <a:t>They aren't coming to the party.</a:t>
            </a:r>
            <a:endParaRPr sz="1400"/>
          </a:p>
          <a:p>
            <a:pPr indent="-205771" lvl="2" marL="1143000" rtl="0" algn="l">
              <a:spcBef>
                <a:spcPts val="906"/>
              </a:spcBef>
              <a:spcAft>
                <a:spcPts val="0"/>
              </a:spcAft>
              <a:buSzPts val="1400"/>
              <a:buFont typeface="Arial"/>
              <a:buChar char="•"/>
            </a:pPr>
            <a:r>
              <a:rPr b="0" i="0" lang="en-US" sz="1400">
                <a:solidFill>
                  <a:srgbClr val="374151"/>
                </a:solidFill>
                <a:latin typeface="Arial"/>
                <a:ea typeface="Arial"/>
                <a:cs typeface="Arial"/>
                <a:sym typeface="Arial"/>
              </a:rPr>
              <a:t>We aren't going to the beach.</a:t>
            </a:r>
            <a:endParaRPr sz="1400"/>
          </a:p>
          <a:p>
            <a:pPr indent="0" lvl="2" marL="914400" rtl="0" algn="l">
              <a:spcBef>
                <a:spcPts val="906"/>
              </a:spcBef>
              <a:spcAft>
                <a:spcPts val="0"/>
              </a:spcAft>
              <a:buSzPts val="2070"/>
              <a:buNone/>
            </a:pPr>
            <a:r>
              <a:rPr b="1" i="0" lang="en-US" sz="1400">
                <a:solidFill>
                  <a:srgbClr val="374151"/>
                </a:solidFill>
                <a:latin typeface="Arial"/>
                <a:ea typeface="Arial"/>
                <a:cs typeface="Arial"/>
                <a:sym typeface="Arial"/>
              </a:rPr>
              <a:t>Make 2 examples from ‘aren’t’</a:t>
            </a:r>
            <a:endParaRPr sz="1400"/>
          </a:p>
          <a:p>
            <a:pPr indent="-136779" lvl="0" marL="285750" rtl="0" algn="l">
              <a:spcBef>
                <a:spcPts val="1008"/>
              </a:spcBef>
              <a:spcAft>
                <a:spcPts val="0"/>
              </a:spcAft>
              <a:buSzPts val="2760"/>
              <a:buNone/>
            </a:pPr>
            <a:r>
              <a:t/>
            </a:r>
            <a:endParaRPr sz="1400"/>
          </a:p>
        </p:txBody>
      </p:sp>
      <p:pic>
        <p:nvPicPr>
          <p:cNvPr id="184" name="Google Shape;184;g298062ab72f_0_18"/>
          <p:cNvPicPr preferRelativeResize="0"/>
          <p:nvPr/>
        </p:nvPicPr>
        <p:blipFill rotWithShape="1">
          <a:blip r:embed="rId3">
            <a:alphaModFix/>
          </a:blip>
          <a:srcRect b="0" l="0" r="0" t="0"/>
          <a:stretch/>
        </p:blipFill>
        <p:spPr>
          <a:xfrm>
            <a:off x="11134445" y="0"/>
            <a:ext cx="1057555" cy="47668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98062ab72f_0_24"/>
          <p:cNvSpPr txBox="1"/>
          <p:nvPr>
            <p:ph idx="1" type="body"/>
          </p:nvPr>
        </p:nvSpPr>
        <p:spPr>
          <a:xfrm>
            <a:off x="2291161" y="1167394"/>
            <a:ext cx="7729800" cy="3102000"/>
          </a:xfrm>
          <a:prstGeom prst="rect">
            <a:avLst/>
          </a:prstGeom>
          <a:noFill/>
          <a:ln>
            <a:noFill/>
          </a:ln>
        </p:spPr>
        <p:txBody>
          <a:bodyPr anchorCtr="0" anchor="t" bIns="45700" lIns="91425" spcFirstLastPara="1" rIns="91425" wrap="square" tIns="45700">
            <a:noAutofit/>
          </a:bodyPr>
          <a:lstStyle/>
          <a:p>
            <a:pPr indent="-251079" lvl="0" marL="285750" rtl="0" algn="l">
              <a:spcBef>
                <a:spcPts val="0"/>
              </a:spcBef>
              <a:spcAft>
                <a:spcPts val="0"/>
              </a:spcAft>
              <a:buSzPts val="1800"/>
              <a:buFont typeface="Arial"/>
              <a:buChar char="•"/>
            </a:pPr>
            <a:r>
              <a:rPr b="0" i="0" lang="en-US">
                <a:solidFill>
                  <a:srgbClr val="374151"/>
                </a:solidFill>
                <a:latin typeface="Arial"/>
                <a:ea typeface="Arial"/>
                <a:cs typeface="Arial"/>
                <a:sym typeface="Arial"/>
              </a:rPr>
              <a:t>'am' + 'not’ = </a:t>
            </a:r>
            <a:r>
              <a:rPr lang="en-US">
                <a:solidFill>
                  <a:srgbClr val="374151"/>
                </a:solidFill>
                <a:latin typeface="Arial"/>
                <a:ea typeface="Arial"/>
                <a:cs typeface="Arial"/>
                <a:sym typeface="Arial"/>
              </a:rPr>
              <a:t>I’m no</a:t>
            </a:r>
            <a:r>
              <a:rPr b="0" i="0" lang="en-US">
                <a:solidFill>
                  <a:srgbClr val="374151"/>
                </a:solidFill>
                <a:latin typeface="Arial"/>
                <a:ea typeface="Arial"/>
                <a:cs typeface="Arial"/>
                <a:sym typeface="Arial"/>
              </a:rPr>
              <a:t>t (used in the first person, singular form 'I')</a:t>
            </a:r>
            <a:endParaRPr/>
          </a:p>
          <a:p>
            <a:pPr indent="-275907" lvl="1" marL="742950" rtl="0" algn="l">
              <a:spcBef>
                <a:spcPts val="940"/>
              </a:spcBef>
              <a:spcAft>
                <a:spcPts val="0"/>
              </a:spcAft>
              <a:buSzPts val="1800"/>
              <a:buFont typeface="Arial"/>
              <a:buChar char="•"/>
            </a:pPr>
            <a:r>
              <a:rPr b="0" i="0" lang="en-US" sz="1800">
                <a:solidFill>
                  <a:srgbClr val="374151"/>
                </a:solidFill>
                <a:latin typeface="Arial"/>
                <a:ea typeface="Arial"/>
                <a:cs typeface="Arial"/>
                <a:sym typeface="Arial"/>
              </a:rPr>
              <a:t>Example sentences:</a:t>
            </a:r>
            <a:endParaRPr sz="1800"/>
          </a:p>
          <a:p>
            <a:pPr indent="-231171" lvl="2" marL="1143000" rtl="0" algn="l">
              <a:spcBef>
                <a:spcPts val="906"/>
              </a:spcBef>
              <a:spcAft>
                <a:spcPts val="0"/>
              </a:spcAft>
              <a:buSzPts val="1800"/>
              <a:buFont typeface="Arial"/>
              <a:buChar char="•"/>
            </a:pPr>
            <a:r>
              <a:rPr b="0" i="0" lang="en-US" sz="1800">
                <a:solidFill>
                  <a:srgbClr val="374151"/>
                </a:solidFill>
                <a:latin typeface="Arial"/>
                <a:ea typeface="Arial"/>
                <a:cs typeface="Arial"/>
                <a:sym typeface="Arial"/>
              </a:rPr>
              <a:t>I'm not feeling well.</a:t>
            </a:r>
            <a:endParaRPr sz="1800"/>
          </a:p>
          <a:p>
            <a:pPr indent="-231171" lvl="2" marL="1143000" rtl="0" algn="l">
              <a:spcBef>
                <a:spcPts val="906"/>
              </a:spcBef>
              <a:spcAft>
                <a:spcPts val="0"/>
              </a:spcAft>
              <a:buSzPts val="1800"/>
              <a:buFont typeface="Arial"/>
              <a:buChar char="•"/>
            </a:pPr>
            <a:r>
              <a:rPr b="0" i="0" lang="en-US" sz="1800">
                <a:solidFill>
                  <a:srgbClr val="374151"/>
                </a:solidFill>
                <a:latin typeface="Arial"/>
                <a:ea typeface="Arial"/>
                <a:cs typeface="Arial"/>
                <a:sym typeface="Arial"/>
              </a:rPr>
              <a:t>I'm not interested in that movie.</a:t>
            </a:r>
            <a:endParaRPr sz="1800"/>
          </a:p>
          <a:p>
            <a:pPr indent="0" lvl="2" marL="914400" rtl="0" algn="l">
              <a:spcBef>
                <a:spcPts val="906"/>
              </a:spcBef>
              <a:spcAft>
                <a:spcPts val="0"/>
              </a:spcAft>
              <a:buSzPts val="2070"/>
              <a:buNone/>
            </a:pPr>
            <a:r>
              <a:rPr b="1" i="0" lang="en-US" sz="1800">
                <a:solidFill>
                  <a:srgbClr val="374151"/>
                </a:solidFill>
                <a:latin typeface="Arial"/>
                <a:ea typeface="Arial"/>
                <a:cs typeface="Arial"/>
                <a:sym typeface="Arial"/>
              </a:rPr>
              <a:t>Make 2 examples from ‘</a:t>
            </a:r>
            <a:r>
              <a:rPr b="1" lang="en-US" sz="1800">
                <a:solidFill>
                  <a:srgbClr val="374151"/>
                </a:solidFill>
                <a:latin typeface="Arial"/>
                <a:ea typeface="Arial"/>
                <a:cs typeface="Arial"/>
                <a:sym typeface="Arial"/>
              </a:rPr>
              <a:t>I’m no</a:t>
            </a:r>
            <a:r>
              <a:rPr b="1" i="0" lang="en-US" sz="1800">
                <a:solidFill>
                  <a:srgbClr val="374151"/>
                </a:solidFill>
                <a:latin typeface="Arial"/>
                <a:ea typeface="Arial"/>
                <a:cs typeface="Arial"/>
                <a:sym typeface="Arial"/>
              </a:rPr>
              <a:t>t’</a:t>
            </a:r>
            <a:endParaRPr sz="1800"/>
          </a:p>
          <a:p>
            <a:pPr indent="-251079" lvl="0" marL="285750" rtl="0" algn="l">
              <a:spcBef>
                <a:spcPts val="1008"/>
              </a:spcBef>
              <a:spcAft>
                <a:spcPts val="0"/>
              </a:spcAft>
              <a:buSzPts val="1800"/>
              <a:buFont typeface="Arial"/>
              <a:buChar char="•"/>
            </a:pPr>
            <a:r>
              <a:rPr b="0" i="0" lang="en-US">
                <a:solidFill>
                  <a:srgbClr val="374151"/>
                </a:solidFill>
                <a:latin typeface="Arial"/>
                <a:ea typeface="Arial"/>
                <a:cs typeface="Arial"/>
                <a:sym typeface="Arial"/>
              </a:rPr>
              <a:t>'will' + 'not' = won't</a:t>
            </a:r>
            <a:endParaRPr/>
          </a:p>
          <a:p>
            <a:pPr indent="-275907" lvl="1" marL="742950" rtl="0" algn="l">
              <a:spcBef>
                <a:spcPts val="940"/>
              </a:spcBef>
              <a:spcAft>
                <a:spcPts val="0"/>
              </a:spcAft>
              <a:buSzPts val="1800"/>
              <a:buFont typeface="Arial"/>
              <a:buChar char="•"/>
            </a:pPr>
            <a:r>
              <a:rPr b="0" i="0" lang="en-US" sz="1800">
                <a:solidFill>
                  <a:srgbClr val="374151"/>
                </a:solidFill>
                <a:latin typeface="Arial"/>
                <a:ea typeface="Arial"/>
                <a:cs typeface="Arial"/>
                <a:sym typeface="Arial"/>
              </a:rPr>
              <a:t>Example sentences:</a:t>
            </a:r>
            <a:endParaRPr sz="1800"/>
          </a:p>
          <a:p>
            <a:pPr indent="-231171" lvl="2" marL="1143000" rtl="0" algn="l">
              <a:spcBef>
                <a:spcPts val="906"/>
              </a:spcBef>
              <a:spcAft>
                <a:spcPts val="0"/>
              </a:spcAft>
              <a:buSzPts val="1800"/>
              <a:buFont typeface="Arial"/>
              <a:buChar char="•"/>
            </a:pPr>
            <a:r>
              <a:rPr b="0" i="0" lang="en-US" sz="1800">
                <a:solidFill>
                  <a:srgbClr val="374151"/>
                </a:solidFill>
                <a:latin typeface="Arial"/>
                <a:ea typeface="Arial"/>
                <a:cs typeface="Arial"/>
                <a:sym typeface="Arial"/>
              </a:rPr>
              <a:t>She won't be late.</a:t>
            </a:r>
            <a:endParaRPr sz="1800"/>
          </a:p>
          <a:p>
            <a:pPr indent="-231171" lvl="2" marL="1143000" rtl="0" algn="l">
              <a:spcBef>
                <a:spcPts val="906"/>
              </a:spcBef>
              <a:spcAft>
                <a:spcPts val="0"/>
              </a:spcAft>
              <a:buSzPts val="1800"/>
              <a:buFont typeface="Arial"/>
              <a:buChar char="•"/>
            </a:pPr>
            <a:r>
              <a:rPr b="0" i="0" lang="en-US" sz="1800">
                <a:solidFill>
                  <a:srgbClr val="374151"/>
                </a:solidFill>
                <a:latin typeface="Arial"/>
                <a:ea typeface="Arial"/>
                <a:cs typeface="Arial"/>
                <a:sym typeface="Arial"/>
              </a:rPr>
              <a:t>They won't go to the concert.</a:t>
            </a:r>
            <a:endParaRPr sz="1800"/>
          </a:p>
          <a:p>
            <a:pPr indent="0" lvl="2" marL="914400" rtl="0" algn="l">
              <a:spcBef>
                <a:spcPts val="906"/>
              </a:spcBef>
              <a:spcAft>
                <a:spcPts val="0"/>
              </a:spcAft>
              <a:buSzPts val="2070"/>
              <a:buNone/>
            </a:pPr>
            <a:r>
              <a:rPr b="1" i="0" lang="en-US" sz="1800">
                <a:solidFill>
                  <a:srgbClr val="374151"/>
                </a:solidFill>
                <a:latin typeface="Arial"/>
                <a:ea typeface="Arial"/>
                <a:cs typeface="Arial"/>
                <a:sym typeface="Arial"/>
              </a:rPr>
              <a:t>Make 2 examples from ‘won't’</a:t>
            </a:r>
            <a:endParaRPr sz="1800"/>
          </a:p>
          <a:p>
            <a:pPr indent="0" lvl="2" marL="914400" rtl="0" algn="l">
              <a:spcBef>
                <a:spcPts val="906"/>
              </a:spcBef>
              <a:spcAft>
                <a:spcPts val="0"/>
              </a:spcAft>
              <a:buSzPts val="2070"/>
              <a:buNone/>
            </a:pPr>
            <a:r>
              <a:t/>
            </a:r>
            <a:endParaRPr b="0" i="0" sz="1800">
              <a:solidFill>
                <a:srgbClr val="374151"/>
              </a:solidFill>
              <a:latin typeface="Arial"/>
              <a:ea typeface="Arial"/>
              <a:cs typeface="Arial"/>
              <a:sym typeface="Arial"/>
            </a:endParaRPr>
          </a:p>
          <a:p>
            <a:pPr indent="-136779" lvl="0" marL="285750" rtl="0" algn="l">
              <a:spcBef>
                <a:spcPts val="1008"/>
              </a:spcBef>
              <a:spcAft>
                <a:spcPts val="0"/>
              </a:spcAft>
              <a:buSzPts val="2760"/>
              <a:buNone/>
            </a:pPr>
            <a:r>
              <a:t/>
            </a:r>
            <a:endParaRPr/>
          </a:p>
        </p:txBody>
      </p:sp>
      <p:pic>
        <p:nvPicPr>
          <p:cNvPr id="190" name="Google Shape;190;g298062ab72f_0_24"/>
          <p:cNvPicPr preferRelativeResize="0"/>
          <p:nvPr/>
        </p:nvPicPr>
        <p:blipFill rotWithShape="1">
          <a:blip r:embed="rId3">
            <a:alphaModFix/>
          </a:blip>
          <a:srcRect b="0" l="0" r="0" t="0"/>
          <a:stretch/>
        </p:blipFill>
        <p:spPr>
          <a:xfrm>
            <a:off x="11134445" y="0"/>
            <a:ext cx="1057555" cy="47668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298062ab72f_0_29"/>
          <p:cNvSpPr txBox="1"/>
          <p:nvPr>
            <p:ph type="title"/>
          </p:nvPr>
        </p:nvSpPr>
        <p:spPr>
          <a:xfrm>
            <a:off x="2231136" y="964692"/>
            <a:ext cx="7729800" cy="1188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374151"/>
              </a:buClr>
              <a:buSzPts val="4400"/>
              <a:buFont typeface="Arial"/>
              <a:buNone/>
            </a:pPr>
            <a:r>
              <a:rPr b="0" i="0" lang="en-US">
                <a:solidFill>
                  <a:srgbClr val="374151"/>
                </a:solidFill>
                <a:latin typeface="Arial"/>
                <a:ea typeface="Arial"/>
                <a:cs typeface="Arial"/>
                <a:sym typeface="Arial"/>
              </a:rPr>
              <a:t>Conclusion: </a:t>
            </a:r>
            <a:br>
              <a:rPr lang="en-US"/>
            </a:br>
            <a:endParaRPr/>
          </a:p>
        </p:txBody>
      </p:sp>
      <p:sp>
        <p:nvSpPr>
          <p:cNvPr id="196" name="Google Shape;196;g298062ab72f_0_29"/>
          <p:cNvSpPr txBox="1"/>
          <p:nvPr>
            <p:ph idx="1" type="body"/>
          </p:nvPr>
        </p:nvSpPr>
        <p:spPr>
          <a:xfrm>
            <a:off x="2231136" y="2638044"/>
            <a:ext cx="7729800" cy="31020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2760"/>
              <a:buChar char="•"/>
            </a:pPr>
            <a:r>
              <a:rPr b="0" i="0" lang="en-US">
                <a:solidFill>
                  <a:srgbClr val="374151"/>
                </a:solidFill>
                <a:latin typeface="Arial"/>
                <a:ea typeface="Arial"/>
                <a:cs typeface="Arial"/>
                <a:sym typeface="Arial"/>
              </a:rPr>
              <a:t>Understanding the usage of 'is' and 'are' is fundamental in forming correct sentences in English. Additionally, knowing basic contractions will help you communicate more naturally in spoken English. Practice using these in your conversations to become more fluent and confident in the language.</a:t>
            </a:r>
            <a:endParaRPr/>
          </a:p>
        </p:txBody>
      </p:sp>
      <p:pic>
        <p:nvPicPr>
          <p:cNvPr id="197" name="Google Shape;197;g298062ab72f_0_29"/>
          <p:cNvPicPr preferRelativeResize="0"/>
          <p:nvPr/>
        </p:nvPicPr>
        <p:blipFill rotWithShape="1">
          <a:blip r:embed="rId3">
            <a:alphaModFix/>
          </a:blip>
          <a:srcRect b="0" l="0" r="0" t="0"/>
          <a:stretch/>
        </p:blipFill>
        <p:spPr>
          <a:xfrm>
            <a:off x="11134445" y="0"/>
            <a:ext cx="1057555" cy="47668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cel">
  <a:themeElements>
    <a:clrScheme name="Parcel">
      <a:dk1>
        <a:srgbClr val="000000"/>
      </a:dk1>
      <a:lt1>
        <a:srgbClr val="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cel">
  <a:themeElements>
    <a:clrScheme name="Parcel">
      <a:dk1>
        <a:srgbClr val="000000"/>
      </a:dk1>
      <a:lt1>
        <a:srgbClr val="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2023-11-03T09:06:03Z</dcterms:created>
  <dc:creator>Harshita Upadhyay</dc:creator>
</cp:coreProperties>
</file>