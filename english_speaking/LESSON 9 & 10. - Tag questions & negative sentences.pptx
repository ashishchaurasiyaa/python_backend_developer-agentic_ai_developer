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embeddedFontLst>
    <p:embeddedFont>
      <p:font typeface="Libre Franklin"/>
      <p:regular r:id="rId26"/>
      <p:bold r:id="rId27"/>
      <p:italic r:id="rId28"/>
      <p:boldItalic r:id="rId29"/>
    </p:embeddedFont>
    <p:embeddedFont>
      <p:font typeface="Franklin Gothic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z/H+m14reHBokqdZi8Idqt+Vu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ibreFranklin-regular.fntdata"/><Relationship Id="rId25" Type="http://schemas.openxmlformats.org/officeDocument/2006/relationships/slide" Target="slides/slide21.xml"/><Relationship Id="rId28" Type="http://schemas.openxmlformats.org/officeDocument/2006/relationships/font" Target="fonts/LibreFranklin-italic.fntdata"/><Relationship Id="rId27" Type="http://schemas.openxmlformats.org/officeDocument/2006/relationships/font" Target="fonts/LibreFranklin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LibreFranklin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FranklinGothic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97f02948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297f029487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97f029487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297f029487c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97f029487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297f029487c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97f029487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297f029487c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97f029487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297f029487c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97f029487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297f029487c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97f029487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297f029487c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97f029487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297f029487c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97f029487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297f029487c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97f029487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297f029487c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97f029487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297f029487c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97f029487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297f029487c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97f029487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297f029487c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97f029487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97f029487c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0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0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Franklin Gothic"/>
              <a:buNone/>
              <a:defRPr sz="36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196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012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012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581192" y="702156"/>
            <a:ext cx="1102961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581192" y="2340864"/>
            <a:ext cx="11029615" cy="3634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2"/>
          <p:cNvSpPr txBox="1"/>
          <p:nvPr>
            <p:ph type="title"/>
          </p:nvPr>
        </p:nvSpPr>
        <p:spPr>
          <a:xfrm>
            <a:off x="581193" y="2393950"/>
            <a:ext cx="11029615" cy="2147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Franklin Gothic"/>
              <a:buNone/>
              <a:defRPr b="0" sz="3600" cap="none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2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" type="body"/>
          </p:nvPr>
        </p:nvSpPr>
        <p:spPr>
          <a:xfrm>
            <a:off x="581193" y="2228003"/>
            <a:ext cx="5194767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2" type="body"/>
          </p:nvPr>
        </p:nvSpPr>
        <p:spPr>
          <a:xfrm>
            <a:off x="6416039" y="2228003"/>
            <a:ext cx="5194769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" type="body"/>
          </p:nvPr>
        </p:nvSpPr>
        <p:spPr>
          <a:xfrm>
            <a:off x="581191" y="2250891"/>
            <a:ext cx="5194769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40"/>
              <a:buNone/>
              <a:defRPr b="0" sz="20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4" name="Google Shape;44;p14"/>
          <p:cNvSpPr txBox="1"/>
          <p:nvPr>
            <p:ph idx="2" type="body"/>
          </p:nvPr>
        </p:nvSpPr>
        <p:spPr>
          <a:xfrm>
            <a:off x="581194" y="2926052"/>
            <a:ext cx="5194766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3" type="body"/>
          </p:nvPr>
        </p:nvSpPr>
        <p:spPr>
          <a:xfrm>
            <a:off x="6416039" y="2250892"/>
            <a:ext cx="5194770" cy="553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Noto Sans Symbols"/>
              <a:buNone/>
              <a:defRPr b="0" sz="20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6" name="Google Shape;46;p14"/>
          <p:cNvSpPr txBox="1"/>
          <p:nvPr>
            <p:ph idx="4" type="body"/>
          </p:nvPr>
        </p:nvSpPr>
        <p:spPr>
          <a:xfrm>
            <a:off x="6416037" y="2926052"/>
            <a:ext cx="5194771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/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7"/>
          <p:cNvSpPr txBox="1"/>
          <p:nvPr>
            <p:ph type="title"/>
          </p:nvPr>
        </p:nvSpPr>
        <p:spPr>
          <a:xfrm>
            <a:off x="767857" y="933450"/>
            <a:ext cx="3031852" cy="17224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Franklin Gothic"/>
              <a:buNone/>
              <a:defRPr b="0" sz="24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" type="body"/>
          </p:nvPr>
        </p:nvSpPr>
        <p:spPr>
          <a:xfrm>
            <a:off x="4900928" y="1179829"/>
            <a:ext cx="6650991" cy="465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17"/>
          <p:cNvSpPr txBox="1"/>
          <p:nvPr>
            <p:ph idx="2" type="body"/>
          </p:nvPr>
        </p:nvSpPr>
        <p:spPr>
          <a:xfrm>
            <a:off x="767857" y="2836654"/>
            <a:ext cx="3031852" cy="3001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64" name="Google Shape;64;p17"/>
          <p:cNvSpPr txBox="1"/>
          <p:nvPr>
            <p:ph idx="10" type="dt"/>
          </p:nvPr>
        </p:nvSpPr>
        <p:spPr>
          <a:xfrm>
            <a:off x="7605951" y="6456916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1" type="ftr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10558300" y="6456916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Franklin Gothic"/>
              <a:buNone/>
              <a:defRPr b="0" sz="24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/>
          <p:nvPr>
            <p:ph idx="2" type="pic"/>
          </p:nvPr>
        </p:nvSpPr>
        <p:spPr>
          <a:xfrm>
            <a:off x="447817" y="641350"/>
            <a:ext cx="11290859" cy="3651249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581192" y="5260127"/>
            <a:ext cx="11029617" cy="9981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4269977" y="-1352782"/>
            <a:ext cx="3652047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7914" lvl="0" marL="457200" algn="l">
              <a:lnSpc>
                <a:spcPct val="110000"/>
              </a:lnSpc>
              <a:spcBef>
                <a:spcPts val="340"/>
              </a:spcBef>
              <a:spcAft>
                <a:spcPts val="0"/>
              </a:spcAft>
              <a:buSzPts val="1564"/>
              <a:buChar char="◼"/>
              <a:defRPr/>
            </a:lvl1pPr>
            <a:lvl2pPr indent="-310387" lvl="1" marL="914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2pPr>
            <a:lvl3pPr indent="-304546" lvl="2" marL="1371600" algn="l">
              <a:spcBef>
                <a:spcPts val="600"/>
              </a:spcBef>
              <a:spcAft>
                <a:spcPts val="0"/>
              </a:spcAft>
              <a:buSzPts val="1196"/>
              <a:buChar char="◼"/>
              <a:defRPr/>
            </a:lvl3pPr>
            <a:lvl4pPr indent="-292861" lvl="3" marL="1828800" algn="l">
              <a:spcBef>
                <a:spcPts val="600"/>
              </a:spcBef>
              <a:spcAft>
                <a:spcPts val="0"/>
              </a:spcAft>
              <a:buSzPts val="1012"/>
              <a:buChar char="◼"/>
              <a:defRPr/>
            </a:lvl4pPr>
            <a:lvl5pPr indent="-292861" lvl="4" marL="2286000" algn="l">
              <a:spcBef>
                <a:spcPts val="600"/>
              </a:spcBef>
              <a:spcAft>
                <a:spcPts val="0"/>
              </a:spcAft>
              <a:buSzPts val="1012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/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0"/>
          <p:cNvSpPr txBox="1"/>
          <p:nvPr>
            <p:ph type="title"/>
          </p:nvPr>
        </p:nvSpPr>
        <p:spPr>
          <a:xfrm rot="5400000">
            <a:off x="7362637" y="1705163"/>
            <a:ext cx="480732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Franklin Gothic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 rot="5400000">
            <a:off x="1952072" y="-313549"/>
            <a:ext cx="4807326" cy="716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4" name="Google Shape;84;p20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0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0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defRPr b="0" i="0" sz="2800" u="none" cap="none" strike="noStrik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7914" lvl="0" marL="457200" marR="0" rtl="0" algn="l">
              <a:lnSpc>
                <a:spcPct val="11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◼"/>
              <a:defRPr b="0" i="0" sz="1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10387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04546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96"/>
              <a:buFont typeface="Noto Sans Symbols"/>
              <a:buChar char="◼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292861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12"/>
              <a:buFont typeface="Noto Sans Symbols"/>
              <a:buChar char="◼"/>
              <a:defRPr b="0" i="0" sz="11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292861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12"/>
              <a:buFont typeface="Noto Sans Symbols"/>
              <a:buChar char="◼"/>
              <a:defRPr b="0" i="0" sz="11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9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9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95" name="Google Shape;95;p1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Franklin Gothic"/>
              <a:buNone/>
            </a:pPr>
            <a:r>
              <a:rPr lang="en-US"/>
              <a:t>LESSON 9 &amp; 10</a:t>
            </a:r>
            <a:endParaRPr/>
          </a:p>
        </p:txBody>
      </p:sp>
      <p:sp>
        <p:nvSpPr>
          <p:cNvPr id="96" name="Google Shape;96;p1"/>
          <p:cNvSpPr txBox="1"/>
          <p:nvPr>
            <p:ph idx="1" type="subTitle"/>
          </p:nvPr>
        </p:nvSpPr>
        <p:spPr>
          <a:xfrm>
            <a:off x="581194" y="2495445"/>
            <a:ext cx="10993546" cy="468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n-US"/>
              <a:t>DID YOU WATCH THE LESSON OF AWAL SIR?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bstract image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15127" y="0"/>
            <a:ext cx="976873" cy="440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type="title"/>
          </p:nvPr>
        </p:nvSpPr>
        <p:spPr>
          <a:xfrm>
            <a:off x="581192" y="702156"/>
            <a:ext cx="1102961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en-US"/>
              <a:t>LET’S RECAP!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762000" y="2631613"/>
            <a:ext cx="609600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anklin Gothic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Let’s recall what we learned in the last class.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anklin Gothic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Take a recap of the last session from the students.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anklin Gothic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Clear their doubts (if any).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anklin Gothic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Check the homework given in the previous class.</a:t>
            </a:r>
            <a:endParaRPr/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5127" y="0"/>
            <a:ext cx="976873" cy="440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type="title"/>
          </p:nvPr>
        </p:nvSpPr>
        <p:spPr>
          <a:xfrm>
            <a:off x="581192" y="702156"/>
            <a:ext cx="1102961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800"/>
              <a:buFont typeface="Arial"/>
              <a:buNone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TITLE: ASKING QUESTIONS ABOUT PEOPLE</a:t>
            </a:r>
            <a:endParaRPr/>
          </a:p>
        </p:txBody>
      </p:sp>
      <p:sp>
        <p:nvSpPr>
          <p:cNvPr id="114" name="Google Shape;114;p3"/>
          <p:cNvSpPr txBox="1"/>
          <p:nvPr>
            <p:ph idx="1" type="body"/>
          </p:nvPr>
        </p:nvSpPr>
        <p:spPr>
          <a:xfrm>
            <a:off x="581192" y="2340864"/>
            <a:ext cx="11029615" cy="3634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64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Introduction: In this lesson, we will learn how to ask questions about people. This skill is important for building conversations and getting to know others better. We will use easy-to-understand language and provide meanings, example sentences, and 10 practice questions for each type of question.</a:t>
            </a:r>
            <a:endParaRPr/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5127" y="0"/>
            <a:ext cx="976873" cy="440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>
            <p:ph type="title"/>
          </p:nvPr>
        </p:nvSpPr>
        <p:spPr>
          <a:xfrm>
            <a:off x="581192" y="702156"/>
            <a:ext cx="1102961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800"/>
              <a:buFont typeface="Arial"/>
              <a:buNone/>
            </a:pPr>
            <a:r>
              <a:rPr b="1" i="0" lang="en-US" sz="2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I. SIMPLE YES/NO QUESTIONS:</a:t>
            </a:r>
            <a:br>
              <a:rPr b="1" i="0" lang="en-US" sz="2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887506" y="2338498"/>
            <a:ext cx="609600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Meaning: </a:t>
            </a:r>
            <a:r>
              <a:rPr b="0" i="0" lang="en-US" sz="2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Questions that can be answered with "yes" or "no".</a:t>
            </a:r>
            <a:endParaRPr/>
          </a:p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Example Sentences: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Is she your friend?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Do you like pizza?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Are they from France?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Practice Questions:</a:t>
            </a:r>
            <a:endParaRPr/>
          </a:p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400"/>
              <a:buFont typeface="Franklin Gothic"/>
              <a:buAutoNum type="arabicPeriod"/>
            </a:pPr>
            <a:r>
              <a:rPr b="0" i="0" lang="en-US" sz="2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Is he a teacher?</a:t>
            </a:r>
            <a:endParaRPr/>
          </a:p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400"/>
              <a:buFont typeface="Franklin Gothic"/>
              <a:buAutoNum type="arabicPeriod"/>
            </a:pPr>
            <a:r>
              <a:rPr b="0" i="0" lang="en-US" sz="2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Do you have a pet?</a:t>
            </a:r>
            <a:endParaRPr/>
          </a:p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400"/>
              <a:buFont typeface="Franklin Gothic"/>
              <a:buAutoNum type="arabicPeriod"/>
            </a:pPr>
            <a:r>
              <a:rPr b="0" i="0" lang="en-US" sz="2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Are they brothers?</a:t>
            </a:r>
            <a:endParaRPr/>
          </a:p>
        </p:txBody>
      </p:sp>
      <p:pic>
        <p:nvPicPr>
          <p:cNvPr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5127" y="0"/>
            <a:ext cx="976873" cy="440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581192" y="702156"/>
            <a:ext cx="1102961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800"/>
              <a:buFont typeface="Arial"/>
              <a:buNone/>
            </a:pP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II. INFORMATION QUESTIONS:</a:t>
            </a:r>
            <a:endParaRPr b="1"/>
          </a:p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581192" y="2340864"/>
            <a:ext cx="11029615" cy="3634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6000" lvl="0" marL="3060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40"/>
              <a:buFont typeface="Arial"/>
              <a:buChar char="•"/>
            </a:pPr>
            <a:r>
              <a:rPr b="1" i="0" lang="en-US" sz="2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Meaning: </a:t>
            </a:r>
            <a:r>
              <a:rPr b="0" i="0" lang="en-US" sz="2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Questions that ask for specific information.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Font typeface="Arial"/>
              <a:buChar char="•"/>
            </a:pPr>
            <a:r>
              <a:rPr b="1" i="0" lang="en-US" sz="2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Example Sentences</a:t>
            </a:r>
            <a:r>
              <a:rPr b="0" i="0" lang="en-US" sz="2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840"/>
              <a:buFont typeface="Arial"/>
              <a:buChar char="•"/>
            </a:pPr>
            <a:r>
              <a:rPr b="0" i="0" lang="en-US" sz="2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What is her name?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840"/>
              <a:buFont typeface="Arial"/>
              <a:buChar char="•"/>
            </a:pPr>
            <a:r>
              <a:rPr b="0" i="0" lang="en-US" sz="2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Where do you live?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840"/>
              <a:buFont typeface="Arial"/>
              <a:buChar char="•"/>
            </a:pPr>
            <a:r>
              <a:rPr b="0" i="0" lang="en-US" sz="2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How old are they?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b="1" i="0" lang="en-US" sz="2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Practice Questions: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Font typeface="Franklin Gothic"/>
              <a:buAutoNum type="arabicPeriod"/>
            </a:pPr>
            <a:r>
              <a:rPr b="0" i="0" lang="en-US" sz="2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What is your favorite color?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Font typeface="Franklin Gothic"/>
              <a:buAutoNum type="arabicPeriod"/>
            </a:pPr>
            <a:r>
              <a:rPr b="0" i="0" lang="en-US" sz="2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Where did you go on vacation?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Font typeface="Franklin Gothic"/>
              <a:buAutoNum type="arabicPeriod"/>
            </a:pPr>
            <a:r>
              <a:rPr b="0" i="0" lang="en-US" sz="2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How many siblings do you have?</a:t>
            </a:r>
            <a:endParaRPr/>
          </a:p>
          <a:p>
            <a:pPr indent="-189160" lvl="0" marL="3060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t/>
            </a:r>
            <a:endParaRPr sz="2000"/>
          </a:p>
        </p:txBody>
      </p:sp>
      <p:pic>
        <p:nvPicPr>
          <p:cNvPr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5127" y="0"/>
            <a:ext cx="976873" cy="440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581192" y="702156"/>
            <a:ext cx="1102961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800"/>
              <a:buFont typeface="Arial"/>
              <a:buNone/>
            </a:pP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III. QUESTIONS WITH WH-WORDS:</a:t>
            </a:r>
            <a:b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</a:br>
            <a:endParaRPr b="1"/>
          </a:p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581192" y="2340864"/>
            <a:ext cx="11029615" cy="3634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6000" lvl="0" marL="3060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b="1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Meaning: </a:t>
            </a:r>
            <a:r>
              <a:rPr b="0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Questions that start with words like who, what, where, when, why, and how.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6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b="1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Example Sentences:</a:t>
            </a:r>
            <a:endParaRPr/>
          </a:p>
          <a:p>
            <a:pPr indent="-285750" lvl="1" marL="742950" rtl="0" algn="l">
              <a:spcBef>
                <a:spcPts val="96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b="0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Who is your best friend?</a:t>
            </a:r>
            <a:endParaRPr/>
          </a:p>
          <a:p>
            <a:pPr indent="-285750" lvl="1" marL="742950" rtl="0" algn="l">
              <a:spcBef>
                <a:spcPts val="96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b="0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What do you like to do?</a:t>
            </a:r>
            <a:endParaRPr/>
          </a:p>
          <a:p>
            <a:pPr indent="-285750" lvl="1" marL="742950" rtl="0" algn="l">
              <a:spcBef>
                <a:spcPts val="96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b="0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Where did you meet them?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b="1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Practice Questions: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60"/>
              </a:spcBef>
              <a:spcAft>
                <a:spcPts val="0"/>
              </a:spcAft>
              <a:buSzPts val="1656"/>
              <a:buFont typeface="Franklin Gothic"/>
              <a:buAutoNum type="arabicPeriod"/>
            </a:pPr>
            <a:r>
              <a:rPr b="0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Who is your favorite actor?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60"/>
              </a:spcBef>
              <a:spcAft>
                <a:spcPts val="0"/>
              </a:spcAft>
              <a:buSzPts val="1656"/>
              <a:buFont typeface="Franklin Gothic"/>
              <a:buAutoNum type="arabicPeriod"/>
            </a:pPr>
            <a:r>
              <a:rPr b="0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What time do you wake up in the morning?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60"/>
              </a:spcBef>
              <a:spcAft>
                <a:spcPts val="0"/>
              </a:spcAft>
              <a:buSzPts val="1656"/>
              <a:buFont typeface="Franklin Gothic"/>
              <a:buAutoNum type="arabicPeriod"/>
            </a:pPr>
            <a:r>
              <a:rPr b="0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Why do you like that book?</a:t>
            </a:r>
            <a:endParaRPr/>
          </a:p>
          <a:p>
            <a:pPr indent="-200844" lvl="0" marL="306000" rtl="0" algn="l">
              <a:lnSpc>
                <a:spcPct val="110000"/>
              </a:lnSpc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 sz="1800"/>
          </a:p>
        </p:txBody>
      </p:sp>
      <p:pic>
        <p:nvPicPr>
          <p:cNvPr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5127" y="0"/>
            <a:ext cx="976873" cy="440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type="title"/>
          </p:nvPr>
        </p:nvSpPr>
        <p:spPr>
          <a:xfrm>
            <a:off x="581192" y="702156"/>
            <a:ext cx="1102961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800"/>
              <a:buFont typeface="Arial"/>
              <a:buNone/>
            </a:pP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IV. TAG QUESTIONS:</a:t>
            </a:r>
            <a:b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</a:br>
            <a:endParaRPr b="1"/>
          </a:p>
        </p:txBody>
      </p:sp>
      <p:sp>
        <p:nvSpPr>
          <p:cNvPr id="142" name="Google Shape;142;p7"/>
          <p:cNvSpPr txBox="1"/>
          <p:nvPr>
            <p:ph idx="1" type="body"/>
          </p:nvPr>
        </p:nvSpPr>
        <p:spPr>
          <a:xfrm>
            <a:off x="581192" y="2340864"/>
            <a:ext cx="11029615" cy="3634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6000" lvl="0" marL="3060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40"/>
              <a:buFont typeface="Arial"/>
              <a:buChar char="•"/>
            </a:pPr>
            <a:r>
              <a:rPr b="1" i="0" lang="en-US" sz="2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Meaning: </a:t>
            </a:r>
            <a:r>
              <a:rPr b="0" i="0" lang="en-US" sz="2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Questions added at the end of a statement to confirm or seek agreement.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Font typeface="Arial"/>
              <a:buChar char="•"/>
            </a:pPr>
            <a:r>
              <a:rPr b="1" i="0" lang="en-US" sz="2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Example Sentences: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840"/>
              <a:buFont typeface="Arial"/>
              <a:buChar char="•"/>
            </a:pPr>
            <a:r>
              <a:rPr b="0" i="0" lang="en-US" sz="2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You like ice cream, don't you?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840"/>
              <a:buFont typeface="Arial"/>
              <a:buChar char="•"/>
            </a:pPr>
            <a:r>
              <a:rPr b="0" i="0" lang="en-US" sz="2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She is your sister, isn't she?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840"/>
              <a:buFont typeface="Arial"/>
              <a:buChar char="•"/>
            </a:pPr>
            <a:r>
              <a:rPr b="0" i="0" lang="en-US" sz="2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He can swim, can't he?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b="1" i="0" lang="en-US" sz="2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Practice Questions: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Font typeface="Franklin Gothic"/>
              <a:buAutoNum type="arabicPeriod"/>
            </a:pPr>
            <a:r>
              <a:rPr b="0" i="0" lang="en-US" sz="2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You enjoy watching movies, don't you?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Font typeface="Franklin Gothic"/>
              <a:buAutoNum type="arabicPeriod"/>
            </a:pPr>
            <a:r>
              <a:rPr b="0" i="0" lang="en-US" sz="2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She speaks Spanish, doesn't she?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Font typeface="Franklin Gothic"/>
              <a:buAutoNum type="arabicPeriod"/>
            </a:pPr>
            <a:r>
              <a:rPr b="0" i="0" lang="en-US" sz="2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He plays the guitar, doesn't he?</a:t>
            </a:r>
            <a:endParaRPr/>
          </a:p>
          <a:p>
            <a:pPr indent="-189160" lvl="0" marL="3060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t/>
            </a:r>
            <a:endParaRPr sz="2000"/>
          </a:p>
        </p:txBody>
      </p:sp>
      <p:pic>
        <p:nvPicPr>
          <p:cNvPr id="143" name="Google Shape;1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5127" y="0"/>
            <a:ext cx="976873" cy="440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97f029487c_0_0"/>
          <p:cNvSpPr txBox="1"/>
          <p:nvPr>
            <p:ph type="title"/>
          </p:nvPr>
        </p:nvSpPr>
        <p:spPr>
          <a:xfrm>
            <a:off x="581192" y="702156"/>
            <a:ext cx="1102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USE OF ‘THE’ IN ENGLISH</a:t>
            </a:r>
            <a:endParaRPr/>
          </a:p>
        </p:txBody>
      </p:sp>
      <p:sp>
        <p:nvSpPr>
          <p:cNvPr id="149" name="Google Shape;149;g297f029487c_0_0"/>
          <p:cNvSpPr txBox="1"/>
          <p:nvPr>
            <p:ph idx="1" type="body"/>
          </p:nvPr>
        </p:nvSpPr>
        <p:spPr>
          <a:xfrm>
            <a:off x="581192" y="2340864"/>
            <a:ext cx="11029500" cy="3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Introduction: In today's class, we'll explore the use of the word 'the' in English. 'The' is called a definite article, and it helps us specify a particular thing or person. Let's dive in with simple language, meanings, sentences, and plenty of examples to make it easy for you to understand.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Meaning: 'The' is a small word, but it has an important job. It tells us that we're talking about a specific thing, not just any thing. Think of it as a spotlight, shining on one particular item in a group.</a:t>
            </a:r>
            <a:endParaRPr/>
          </a:p>
        </p:txBody>
      </p:sp>
      <p:pic>
        <p:nvPicPr>
          <p:cNvPr id="150" name="Google Shape;150;g297f029487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6821" y="0"/>
            <a:ext cx="645179" cy="29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97f029487c_0_6"/>
          <p:cNvSpPr txBox="1"/>
          <p:nvPr>
            <p:ph type="title"/>
          </p:nvPr>
        </p:nvSpPr>
        <p:spPr>
          <a:xfrm>
            <a:off x="581192" y="645606"/>
            <a:ext cx="1102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4400"/>
              <a:buFont typeface="Arial"/>
              <a:buNone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Sentences:</a:t>
            </a:r>
            <a:endParaRPr/>
          </a:p>
        </p:txBody>
      </p:sp>
      <p:sp>
        <p:nvSpPr>
          <p:cNvPr id="156" name="Google Shape;156;g297f029487c_0_6"/>
          <p:cNvSpPr txBox="1"/>
          <p:nvPr>
            <p:ph idx="1" type="body"/>
          </p:nvPr>
        </p:nvSpPr>
        <p:spPr>
          <a:xfrm>
            <a:off x="581192" y="2340864"/>
            <a:ext cx="11029500" cy="3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070"/>
              <a:buFont typeface="Garamond"/>
              <a:buAutoNum type="arabicPeriod"/>
            </a:pPr>
            <a:r>
              <a:rPr b="1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cat is sleeping on </a:t>
            </a:r>
            <a:r>
              <a:rPr b="1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couch.</a:t>
            </a:r>
            <a:endParaRPr/>
          </a:p>
          <a:p>
            <a:pPr indent="-285750" lvl="0" marL="285750" rtl="0" algn="l">
              <a:spcBef>
                <a:spcPts val="960"/>
              </a:spcBef>
              <a:spcAft>
                <a:spcPts val="0"/>
              </a:spcAft>
              <a:buSzPts val="2070"/>
              <a:buFont typeface="Garamond"/>
              <a:buAutoNum type="arabicPeriod"/>
            </a:pPr>
            <a:r>
              <a:rPr b="0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ould</a:t>
            </a:r>
            <a:r>
              <a:rPr b="0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you pass me </a:t>
            </a:r>
            <a:r>
              <a:rPr b="1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salt, please?</a:t>
            </a:r>
            <a:endParaRPr/>
          </a:p>
          <a:p>
            <a:pPr indent="-285750" lvl="0" marL="285750" rtl="0" algn="l">
              <a:spcBef>
                <a:spcPts val="960"/>
              </a:spcBef>
              <a:spcAft>
                <a:spcPts val="0"/>
              </a:spcAft>
              <a:buSzPts val="2070"/>
              <a:buFont typeface="Garamond"/>
              <a:buAutoNum type="arabicPeriod"/>
            </a:pPr>
            <a:r>
              <a:rPr b="0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 like to read </a:t>
            </a:r>
            <a:r>
              <a:rPr b="1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book before bedtime.</a:t>
            </a:r>
            <a:endParaRPr/>
          </a:p>
        </p:txBody>
      </p:sp>
      <p:pic>
        <p:nvPicPr>
          <p:cNvPr id="157" name="Google Shape;157;g297f029487c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6821" y="0"/>
            <a:ext cx="645179" cy="29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97f029487c_0_12"/>
          <p:cNvSpPr txBox="1"/>
          <p:nvPr>
            <p:ph type="title"/>
          </p:nvPr>
        </p:nvSpPr>
        <p:spPr>
          <a:xfrm>
            <a:off x="581192" y="702156"/>
            <a:ext cx="1102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None/>
            </a:pPr>
            <a:r>
              <a:rPr b="0" i="0" lang="en-US" sz="4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Now, let's explore some examples in different contexts.</a:t>
            </a:r>
            <a:br>
              <a:rPr b="0" i="0" lang="en-US" sz="4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63" name="Google Shape;163;g297f029487c_0_12"/>
          <p:cNvSpPr txBox="1"/>
          <p:nvPr>
            <p:ph idx="1" type="body"/>
          </p:nvPr>
        </p:nvSpPr>
        <p:spPr>
          <a:xfrm>
            <a:off x="581192" y="2340864"/>
            <a:ext cx="11029500" cy="3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46316" lvl="0" marL="285750" rtl="0" algn="l">
              <a:spcBef>
                <a:spcPts val="0"/>
              </a:spcBef>
              <a:spcAft>
                <a:spcPts val="0"/>
              </a:spcAft>
              <a:buSzPct val="115000"/>
              <a:buChar char="◼"/>
            </a:pPr>
            <a:r>
              <a:rPr b="1" i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Example 1: At Home</a:t>
            </a:r>
            <a:endParaRPr/>
          </a:p>
          <a:p>
            <a:pPr indent="-246316" lvl="0" marL="285750" rtl="0" algn="l">
              <a:spcBef>
                <a:spcPts val="1044"/>
              </a:spcBef>
              <a:spcAft>
                <a:spcPts val="0"/>
              </a:spcAft>
              <a:buSzPct val="115000"/>
              <a:buFont typeface="Garamond"/>
              <a:buAutoNum type="arabicPeriod"/>
            </a:pPr>
            <a:r>
              <a:rPr b="1" i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bed in my room is very comfortable.</a:t>
            </a:r>
            <a:endParaRPr/>
          </a:p>
          <a:p>
            <a:pPr indent="-246316" lvl="0" marL="285750" rtl="0" algn="l">
              <a:spcBef>
                <a:spcPts val="1044"/>
              </a:spcBef>
              <a:spcAft>
                <a:spcPts val="0"/>
              </a:spcAft>
              <a:buSzPct val="115000"/>
              <a:buFont typeface="Garamond"/>
              <a:buAutoNum type="arabicPeriod"/>
            </a:pPr>
            <a:r>
              <a:rPr b="0" i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Mom is cooking dinner in </a:t>
            </a:r>
            <a:r>
              <a:rPr b="1" i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kitchen.</a:t>
            </a:r>
            <a:endParaRPr/>
          </a:p>
          <a:p>
            <a:pPr indent="-246316" lvl="0" marL="285750" rtl="0" algn="l">
              <a:spcBef>
                <a:spcPts val="1044"/>
              </a:spcBef>
              <a:spcAft>
                <a:spcPts val="0"/>
              </a:spcAft>
              <a:buSzPct val="115000"/>
              <a:buFont typeface="Garamond"/>
              <a:buAutoNum type="arabicPeriod"/>
            </a:pPr>
            <a:r>
              <a:rPr b="0" i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My brother is watching TV in </a:t>
            </a:r>
            <a:r>
              <a:rPr b="1" i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living room.</a:t>
            </a:r>
            <a:endParaRPr/>
          </a:p>
          <a:p>
            <a:pPr indent="-246316" lvl="0" marL="285750" rtl="0" algn="l">
              <a:spcBef>
                <a:spcPts val="1044"/>
              </a:spcBef>
              <a:spcAft>
                <a:spcPts val="0"/>
              </a:spcAft>
              <a:buSzPct val="115000"/>
              <a:buChar char="◼"/>
            </a:pPr>
            <a:r>
              <a:rPr b="1" i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Example 2: In the City </a:t>
            </a:r>
            <a:endParaRPr/>
          </a:p>
          <a:p>
            <a:pPr indent="-246316" lvl="0" marL="285750" rtl="0" algn="l">
              <a:spcBef>
                <a:spcPts val="1044"/>
              </a:spcBef>
              <a:spcAft>
                <a:spcPts val="0"/>
              </a:spcAft>
              <a:buSzPct val="115000"/>
              <a:buChar char="◼"/>
            </a:pPr>
            <a:r>
              <a:rPr b="0" i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4. We visited </a:t>
            </a:r>
            <a:r>
              <a:rPr b="1" i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park yesterday.</a:t>
            </a:r>
            <a:endParaRPr/>
          </a:p>
          <a:p>
            <a:pPr indent="-246316" lvl="0" marL="285750" rtl="0" algn="l">
              <a:spcBef>
                <a:spcPts val="1044"/>
              </a:spcBef>
              <a:spcAft>
                <a:spcPts val="0"/>
              </a:spcAft>
              <a:buSzPct val="115000"/>
              <a:buFont typeface="Garamond"/>
              <a:buAutoNum type="arabicPeriod" startAt="5"/>
            </a:pPr>
            <a:r>
              <a:rPr b="0" i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 saw </a:t>
            </a:r>
            <a:r>
              <a:rPr b="1" i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movie at </a:t>
            </a:r>
            <a:r>
              <a:rPr b="1" i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cinema downtown.</a:t>
            </a:r>
            <a:endParaRPr/>
          </a:p>
          <a:p>
            <a:pPr indent="-246316" lvl="0" marL="285750" rtl="0" algn="l">
              <a:spcBef>
                <a:spcPts val="1044"/>
              </a:spcBef>
              <a:spcAft>
                <a:spcPts val="0"/>
              </a:spcAft>
              <a:buSzPct val="115000"/>
              <a:buFont typeface="Garamond"/>
              <a:buAutoNum type="arabicPeriod" startAt="5"/>
            </a:pPr>
            <a:r>
              <a:rPr b="0" i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There's a nice restaurant near </a:t>
            </a:r>
            <a:r>
              <a:rPr b="1" i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library.</a:t>
            </a:r>
            <a:endParaRPr/>
          </a:p>
          <a:p>
            <a:pPr indent="-123634" lvl="0" marL="285750" rtl="0" algn="l">
              <a:spcBef>
                <a:spcPts val="1044"/>
              </a:spcBef>
              <a:spcAft>
                <a:spcPts val="0"/>
              </a:spcAft>
              <a:buSzPct val="162352"/>
              <a:buNone/>
            </a:pPr>
            <a:r>
              <a:t/>
            </a:r>
            <a:endParaRPr/>
          </a:p>
        </p:txBody>
      </p:sp>
      <p:pic>
        <p:nvPicPr>
          <p:cNvPr id="164" name="Google Shape;164;g297f029487c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6821" y="0"/>
            <a:ext cx="645179" cy="29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97f029487c_0_18"/>
          <p:cNvSpPr txBox="1"/>
          <p:nvPr>
            <p:ph idx="1" type="body"/>
          </p:nvPr>
        </p:nvSpPr>
        <p:spPr>
          <a:xfrm>
            <a:off x="1295402" y="2467285"/>
            <a:ext cx="9601200" cy="3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46316" lvl="0" marL="285750" rtl="0" algn="l">
              <a:spcBef>
                <a:spcPts val="0"/>
              </a:spcBef>
              <a:spcAft>
                <a:spcPts val="0"/>
              </a:spcAft>
              <a:buSzPct val="162352"/>
              <a:buChar char="◼"/>
            </a:pPr>
            <a:r>
              <a:rPr b="1" i="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3: Talking about People </a:t>
            </a:r>
            <a:endParaRPr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SzPct val="162352"/>
              <a:buNone/>
            </a:pPr>
            <a:r>
              <a:rPr b="0" i="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</a:t>
            </a:r>
            <a:r>
              <a:rPr b="1" i="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teacher is very kind.</a:t>
            </a:r>
            <a:endParaRPr/>
          </a:p>
          <a:p>
            <a:pPr indent="-246316" lvl="0" marL="285750" rtl="0" algn="l">
              <a:spcBef>
                <a:spcPts val="1044"/>
              </a:spcBef>
              <a:spcAft>
                <a:spcPts val="0"/>
              </a:spcAft>
              <a:buSzPct val="162352"/>
              <a:buFont typeface="Garamond"/>
              <a:buAutoNum type="arabicPeriod" startAt="8"/>
            </a:pPr>
            <a:r>
              <a:rPr b="0" i="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met </a:t>
            </a:r>
            <a:r>
              <a:rPr b="1" i="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new student in class today.</a:t>
            </a:r>
            <a:endParaRPr/>
          </a:p>
          <a:p>
            <a:pPr indent="-246316" lvl="0" marL="285750" rtl="0" algn="l">
              <a:spcBef>
                <a:spcPts val="1044"/>
              </a:spcBef>
              <a:spcAft>
                <a:spcPts val="0"/>
              </a:spcAft>
              <a:buSzPct val="162352"/>
              <a:buFont typeface="Garamond"/>
              <a:buAutoNum type="arabicPeriod" startAt="8"/>
            </a:pPr>
            <a:r>
              <a:rPr b="0" i="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 sister is friends with </a:t>
            </a:r>
            <a:r>
              <a:rPr b="1" i="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boy next door.</a:t>
            </a:r>
            <a:endParaRPr/>
          </a:p>
          <a:p>
            <a:pPr indent="-246316" lvl="0" marL="285750" rtl="0" algn="l">
              <a:spcBef>
                <a:spcPts val="1044"/>
              </a:spcBef>
              <a:spcAft>
                <a:spcPts val="0"/>
              </a:spcAft>
              <a:buSzPct val="162352"/>
              <a:buChar char="◼"/>
            </a:pPr>
            <a:r>
              <a:rPr b="1" i="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4: Nature and the Environment</a:t>
            </a:r>
            <a:endParaRPr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SzPct val="162352"/>
              <a:buNone/>
            </a:pPr>
            <a:r>
              <a:rPr b="0" i="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 We went for a walk in </a:t>
            </a:r>
            <a:r>
              <a:rPr b="1" i="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forest.</a:t>
            </a:r>
            <a:endParaRPr/>
          </a:p>
          <a:p>
            <a:pPr indent="-246316" lvl="0" marL="285750" rtl="0" algn="l">
              <a:spcBef>
                <a:spcPts val="1044"/>
              </a:spcBef>
              <a:spcAft>
                <a:spcPts val="0"/>
              </a:spcAft>
              <a:buSzPct val="162352"/>
              <a:buFont typeface="Garamond"/>
              <a:buAutoNum type="arabicPeriod" startAt="11"/>
            </a:pPr>
            <a:r>
              <a:rPr b="1" i="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sun is shining brightly today.</a:t>
            </a:r>
            <a:endParaRPr/>
          </a:p>
          <a:p>
            <a:pPr indent="-246316" lvl="0" marL="285750" rtl="0" algn="l">
              <a:spcBef>
                <a:spcPts val="1044"/>
              </a:spcBef>
              <a:spcAft>
                <a:spcPts val="0"/>
              </a:spcAft>
              <a:buSzPct val="162352"/>
              <a:buFont typeface="Garamond"/>
              <a:buAutoNum type="arabicPeriod" startAt="11"/>
            </a:pPr>
            <a:r>
              <a:rPr b="0" i="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love listening to </a:t>
            </a:r>
            <a:r>
              <a:rPr b="1" i="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birds in </a:t>
            </a:r>
            <a:r>
              <a:rPr b="1" i="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garden.</a:t>
            </a:r>
            <a:endParaRPr/>
          </a:p>
          <a:p>
            <a:pPr indent="-123634" lvl="0" marL="285750" rtl="0" algn="l">
              <a:spcBef>
                <a:spcPts val="1044"/>
              </a:spcBef>
              <a:spcAft>
                <a:spcPts val="0"/>
              </a:spcAft>
              <a:buSzPct val="162352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0" name="Google Shape;170;g297f029487c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6821" y="0"/>
            <a:ext cx="645179" cy="29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97f029487c_0_23"/>
          <p:cNvSpPr txBox="1"/>
          <p:nvPr>
            <p:ph type="title"/>
          </p:nvPr>
        </p:nvSpPr>
        <p:spPr>
          <a:xfrm>
            <a:off x="581192" y="702156"/>
            <a:ext cx="1102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USE OF NEGATIVE SENTENCES IN ENGLISH</a:t>
            </a:r>
            <a:endParaRPr/>
          </a:p>
        </p:txBody>
      </p:sp>
      <p:sp>
        <p:nvSpPr>
          <p:cNvPr id="176" name="Google Shape;176;g297f029487c_0_23"/>
          <p:cNvSpPr txBox="1"/>
          <p:nvPr>
            <p:ph idx="1" type="body"/>
          </p:nvPr>
        </p:nvSpPr>
        <p:spPr>
          <a:xfrm>
            <a:off x="581192" y="2340864"/>
            <a:ext cx="11029500" cy="3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I.</a:t>
            </a: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Introduction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. Definition: </a:t>
            </a: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Negative sentences are sentences that express the opposite or denial of a statement.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B. </a:t>
            </a: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Importance: </a:t>
            </a: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They are crucial for effective communication and conveying different perspectives.</a:t>
            </a:r>
            <a:endParaRPr/>
          </a:p>
        </p:txBody>
      </p:sp>
      <p:pic>
        <p:nvPicPr>
          <p:cNvPr id="177" name="Google Shape;177;g297f029487c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6821" y="0"/>
            <a:ext cx="645179" cy="29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97f029487c_0_29"/>
          <p:cNvSpPr txBox="1"/>
          <p:nvPr>
            <p:ph type="title"/>
          </p:nvPr>
        </p:nvSpPr>
        <p:spPr>
          <a:xfrm>
            <a:off x="581192" y="702156"/>
            <a:ext cx="1102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4400"/>
              <a:buFont typeface="Arial"/>
              <a:buNone/>
            </a:pP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II. Forming Negative Sentences</a:t>
            </a:r>
            <a:endParaRPr/>
          </a:p>
        </p:txBody>
      </p:sp>
      <p:sp>
        <p:nvSpPr>
          <p:cNvPr id="183" name="Google Shape;183;g297f029487c_0_29"/>
          <p:cNvSpPr txBox="1"/>
          <p:nvPr>
            <p:ph idx="1" type="body"/>
          </p:nvPr>
        </p:nvSpPr>
        <p:spPr>
          <a:xfrm>
            <a:off x="581192" y="2340864"/>
            <a:ext cx="11029500" cy="3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A. Structure: Subject + do/does/did + not + base form of the verb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B. Example: 1. She does not like coffee.</a:t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(Meaning: She doesn't like coffee.)</a:t>
            </a:r>
            <a:endParaRPr b="1"/>
          </a:p>
        </p:txBody>
      </p:sp>
      <p:pic>
        <p:nvPicPr>
          <p:cNvPr id="184" name="Google Shape;184;g297f029487c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6821" y="0"/>
            <a:ext cx="645179" cy="29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97f029487c_0_35"/>
          <p:cNvSpPr txBox="1"/>
          <p:nvPr>
            <p:ph type="title"/>
          </p:nvPr>
        </p:nvSpPr>
        <p:spPr>
          <a:xfrm>
            <a:off x="581192" y="702156"/>
            <a:ext cx="1102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4400"/>
              <a:buFont typeface="Arial"/>
              <a:buNone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III. Using Negative Sentences</a:t>
            </a:r>
            <a:endParaRPr/>
          </a:p>
        </p:txBody>
      </p:sp>
      <p:sp>
        <p:nvSpPr>
          <p:cNvPr id="190" name="Google Shape;190;g297f029487c_0_35"/>
          <p:cNvSpPr txBox="1"/>
          <p:nvPr>
            <p:ph idx="1" type="body"/>
          </p:nvPr>
        </p:nvSpPr>
        <p:spPr>
          <a:xfrm>
            <a:off x="581192" y="2340864"/>
            <a:ext cx="11029500" cy="3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◼"/>
            </a:pP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A. Expressing Contradictions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1. He does not eat meat.</a:t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(Meaning: He doesn't eat meat.) </a:t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2. They do not play basketball.</a:t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(Meaning: They don't play basketball.) </a:t>
            </a:r>
            <a:endParaRPr/>
          </a:p>
        </p:txBody>
      </p:sp>
      <p:pic>
        <p:nvPicPr>
          <p:cNvPr id="191" name="Google Shape;191;g297f029487c_0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6821" y="0"/>
            <a:ext cx="645179" cy="29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97f029487c_0_41"/>
          <p:cNvSpPr txBox="1"/>
          <p:nvPr>
            <p:ph type="title"/>
          </p:nvPr>
        </p:nvSpPr>
        <p:spPr>
          <a:xfrm>
            <a:off x="581192" y="702156"/>
            <a:ext cx="1102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4400"/>
              <a:buFont typeface="Arial"/>
              <a:buNone/>
            </a:pPr>
            <a:r>
              <a:rPr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Using Negative Sentences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t/>
            </a:r>
            <a:endParaRPr/>
          </a:p>
        </p:txBody>
      </p:sp>
      <p:sp>
        <p:nvSpPr>
          <p:cNvPr id="197" name="Google Shape;197;g297f029487c_0_41"/>
          <p:cNvSpPr txBox="1"/>
          <p:nvPr>
            <p:ph idx="1" type="body"/>
          </p:nvPr>
        </p:nvSpPr>
        <p:spPr>
          <a:xfrm>
            <a:off x="581192" y="2340864"/>
            <a:ext cx="11029500" cy="3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B. Giving Negative Responses </a:t>
            </a:r>
            <a:endParaRPr/>
          </a:p>
          <a:p>
            <a:pPr indent="-457200" lvl="0" marL="457200" rtl="0" algn="l">
              <a:spcBef>
                <a:spcPts val="1080"/>
              </a:spcBef>
              <a:spcAft>
                <a:spcPts val="0"/>
              </a:spcAft>
              <a:buSzPts val="2760"/>
              <a:buAutoNum type="arabicPeriod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No, I do not have a cat. </a:t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(Meaning: I don't have a cat.) </a:t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2. No, she does not know him. </a:t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(Meaning: She doesn't know him.)</a:t>
            </a:r>
            <a:endParaRPr b="1"/>
          </a:p>
          <a:p>
            <a:pPr indent="-110490" lvl="0" marL="28575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</p:txBody>
      </p:sp>
      <p:pic>
        <p:nvPicPr>
          <p:cNvPr id="198" name="Google Shape;198;g297f029487c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6821" y="0"/>
            <a:ext cx="645179" cy="29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97f029487c_0_47"/>
          <p:cNvSpPr txBox="1"/>
          <p:nvPr>
            <p:ph idx="1" type="body"/>
          </p:nvPr>
        </p:nvSpPr>
        <p:spPr>
          <a:xfrm>
            <a:off x="581192" y="2340864"/>
            <a:ext cx="11029500" cy="3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◼"/>
            </a:pP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C. Making Negative Statements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1. The weather is not nice today.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◼"/>
            </a:pP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(Meaning: The weather isn't nice today.)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2. The movie was not interesting.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◼"/>
            </a:pP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(Meaning: The movie wasn't interesting.)</a:t>
            </a:r>
            <a:endParaRPr b="1"/>
          </a:p>
        </p:txBody>
      </p:sp>
      <p:pic>
        <p:nvPicPr>
          <p:cNvPr id="204" name="Google Shape;204;g297f029487c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6821" y="0"/>
            <a:ext cx="645179" cy="29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97f029487c_0_52"/>
          <p:cNvSpPr txBox="1"/>
          <p:nvPr>
            <p:ph type="title"/>
          </p:nvPr>
        </p:nvSpPr>
        <p:spPr>
          <a:xfrm>
            <a:off x="581192" y="702156"/>
            <a:ext cx="1102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4400"/>
              <a:buFont typeface="Arial"/>
              <a:buNone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IV. Common Negative Words and Phrases</a:t>
            </a:r>
            <a:endParaRPr/>
          </a:p>
        </p:txBody>
      </p:sp>
      <p:sp>
        <p:nvSpPr>
          <p:cNvPr id="210" name="Google Shape;210;g297f029487c_0_52"/>
          <p:cNvSpPr txBox="1"/>
          <p:nvPr>
            <p:ph idx="1" type="body"/>
          </p:nvPr>
        </p:nvSpPr>
        <p:spPr>
          <a:xfrm>
            <a:off x="581192" y="2340864"/>
            <a:ext cx="11029500" cy="3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◼"/>
            </a:pP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A. Not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1. I do not understand. </a:t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(Meaning: I don't understand.) </a:t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B. No </a:t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1. No, she </a:t>
            </a:r>
            <a:r>
              <a:rPr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doesn't</a:t>
            </a: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like chocolate. </a:t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(Meaning: She doesn't like chocolate.)</a:t>
            </a:r>
            <a:endParaRPr b="1"/>
          </a:p>
        </p:txBody>
      </p:sp>
      <p:pic>
        <p:nvPicPr>
          <p:cNvPr id="211" name="Google Shape;211;g297f029487c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6821" y="0"/>
            <a:ext cx="645179" cy="29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97f029487c_0_58"/>
          <p:cNvSpPr txBox="1"/>
          <p:nvPr>
            <p:ph idx="1" type="body"/>
          </p:nvPr>
        </p:nvSpPr>
        <p:spPr>
          <a:xfrm>
            <a:off x="1214718" y="2438399"/>
            <a:ext cx="96012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070"/>
              <a:buChar char="◼"/>
            </a:pPr>
            <a:r>
              <a:rPr b="1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C. Never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2070"/>
              <a:buNone/>
            </a:pPr>
            <a:r>
              <a:rPr b="0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1. They never go to the beach.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2070"/>
              <a:buNone/>
            </a:pPr>
            <a:r>
              <a:rPr b="1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(Meaning: They never go to the beach.)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2070"/>
              <a:buNone/>
            </a:pPr>
            <a:r>
              <a:rPr b="0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D. </a:t>
            </a:r>
            <a:r>
              <a:rPr b="1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None</a:t>
            </a:r>
            <a:r>
              <a:rPr b="0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2070"/>
              <a:buNone/>
            </a:pPr>
            <a:r>
              <a:rPr b="0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2. None of them want to come.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2070"/>
              <a:buNone/>
            </a:pPr>
            <a:r>
              <a:rPr b="1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(Meaning: None of them want to come.)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2070"/>
              <a:buNone/>
            </a:pPr>
            <a:r>
              <a:rPr b="1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E. Neither...nor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2070"/>
              <a:buNone/>
            </a:pPr>
            <a:r>
              <a:rPr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. Neither of them speaks French.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2070"/>
              <a:buNone/>
            </a:pPr>
            <a:r>
              <a:rPr b="1" i="0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(Meaning: None of them speaks French.)</a:t>
            </a:r>
            <a:endParaRPr b="1" sz="1800"/>
          </a:p>
        </p:txBody>
      </p:sp>
      <p:pic>
        <p:nvPicPr>
          <p:cNvPr id="217" name="Google Shape;217;g297f029487c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6821" y="0"/>
            <a:ext cx="645179" cy="29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97f029487c_0_63"/>
          <p:cNvSpPr txBox="1"/>
          <p:nvPr>
            <p:ph type="title"/>
          </p:nvPr>
        </p:nvSpPr>
        <p:spPr>
          <a:xfrm>
            <a:off x="581192" y="702156"/>
            <a:ext cx="1102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4400"/>
              <a:buFont typeface="Arial"/>
              <a:buNone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V. Practice Exercises</a:t>
            </a:r>
            <a:endParaRPr/>
          </a:p>
        </p:txBody>
      </p:sp>
      <p:sp>
        <p:nvSpPr>
          <p:cNvPr id="223" name="Google Shape;223;g297f029487c_0_63"/>
          <p:cNvSpPr txBox="1"/>
          <p:nvPr>
            <p:ph idx="1" type="body"/>
          </p:nvPr>
        </p:nvSpPr>
        <p:spPr>
          <a:xfrm>
            <a:off x="581192" y="2340864"/>
            <a:ext cx="11029500" cy="3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◼"/>
            </a:pP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A. Rewrite the following sentences in the negative form: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1. She likes ice cream.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2. He goes to school every day.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3. They visited the museum last week.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4. I have a sister.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5. We play soccer in the park. </a:t>
            </a:r>
            <a:endParaRPr/>
          </a:p>
        </p:txBody>
      </p:sp>
      <p:pic>
        <p:nvPicPr>
          <p:cNvPr id="224" name="Google Shape;224;g297f029487c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6821" y="0"/>
            <a:ext cx="645179" cy="29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97f029487c_0_69"/>
          <p:cNvSpPr txBox="1"/>
          <p:nvPr>
            <p:ph idx="1" type="body"/>
          </p:nvPr>
        </p:nvSpPr>
        <p:spPr>
          <a:xfrm>
            <a:off x="581192" y="2340864"/>
            <a:ext cx="11029500" cy="3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◼"/>
            </a:pP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B. Fill in the blanks with the correct negative words: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1. I have ____ seen that movie.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2. She </a:t>
            </a:r>
            <a:r>
              <a:rPr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____ </a:t>
            </a: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like vegetables.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3. ____ of them can swim.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4. They are ____ coming to the party.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◼"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5. He speaks ____ French ____ Spanish.</a:t>
            </a:r>
            <a:endParaRPr/>
          </a:p>
        </p:txBody>
      </p:sp>
      <p:pic>
        <p:nvPicPr>
          <p:cNvPr id="230" name="Google Shape;230;g297f029487c_0_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6821" y="0"/>
            <a:ext cx="645179" cy="29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97f029487c_0_74"/>
          <p:cNvSpPr txBox="1"/>
          <p:nvPr>
            <p:ph type="title"/>
          </p:nvPr>
        </p:nvSpPr>
        <p:spPr>
          <a:xfrm>
            <a:off x="581192" y="702156"/>
            <a:ext cx="1102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4400"/>
              <a:buFont typeface="Arial"/>
              <a:buNone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VII. Homework</a:t>
            </a:r>
            <a:endParaRPr/>
          </a:p>
        </p:txBody>
      </p:sp>
      <p:sp>
        <p:nvSpPr>
          <p:cNvPr id="236" name="Google Shape;236;g297f029487c_0_74"/>
          <p:cNvSpPr txBox="1"/>
          <p:nvPr>
            <p:ph idx="1" type="body"/>
          </p:nvPr>
        </p:nvSpPr>
        <p:spPr>
          <a:xfrm>
            <a:off x="581192" y="2340864"/>
            <a:ext cx="11029500" cy="3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◼"/>
            </a:pPr>
            <a:r>
              <a:rPr b="1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A. Write 5 negative sentences about your daily routine.</a:t>
            </a:r>
            <a:endParaRPr b="1"/>
          </a:p>
        </p:txBody>
      </p:sp>
      <p:pic>
        <p:nvPicPr>
          <p:cNvPr id="237" name="Google Shape;237;g297f029487c_0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6821" y="0"/>
            <a:ext cx="645179" cy="29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2023-11-06T06:26:14Z</dcterms:created>
  <dc:creator>Harshita Upadhyay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