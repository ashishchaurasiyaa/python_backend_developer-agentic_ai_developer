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oval">
            <a:avLst/>
          </a:prstGeom>
          <a:solidFill>
            <a:srgbClr val="0D9488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91840"/>
            <a:ext cx="5943600" cy="5943600"/>
          </a:xfrm>
          <a:prstGeom prst="oval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  ·  20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Prompt to Production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AI Workflow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3794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travels from a single LLM call to an autonomous, multi-agent system — and the engineering at every layer.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800600"/>
            <a:ext cx="1691640" cy="51206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8006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58568" y="480060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-&gt;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32888" y="4800600"/>
            <a:ext cx="1691640" cy="51206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48006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24528" y="480060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-&gt;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98848" y="4800600"/>
            <a:ext cx="1691640" cy="51206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48006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47731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</a:rPr>
              <a:t>↻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5897880"/>
            <a:ext cx="420624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Chaurasiya</a:t>
            </a:r>
            <a:pPr indent="0" marL="0">
              <a:buNone/>
            </a:pPr>
            <a:r>
              <a:rPr lang="en-US" sz="13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Friday Tech Session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chatbot answers. An agent acts.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55448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years moved us from “LLM as a text box” to LLMs that plan, call tools, and complete multi-step work. The skill now isn’t writing one clever prompt — it’s engineering the workflow around the model.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2423160"/>
            <a:ext cx="5300320" cy="3383280"/>
          </a:xfrm>
          <a:prstGeom prst="roundRect">
            <a:avLst>
              <a:gd name="adj" fmla="val 243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2423160"/>
            <a:ext cx="91440" cy="3383280"/>
          </a:xfrm>
          <a:prstGeom prst="rect">
            <a:avLst/>
          </a:prstGeom>
          <a:solidFill>
            <a:srgbClr val="6B7A9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43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72768" y="2724912"/>
            <a:ext cx="411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572768" y="2962656"/>
            <a:ext cx="411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Single-call chatbot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78408" y="3611880"/>
            <a:ext cx="4568800" cy="1759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→ one response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no memory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act on the world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frozen at training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24448" y="2423160"/>
            <a:ext cx="5300320" cy="3383280"/>
          </a:xfrm>
          <a:prstGeom prst="roundRect">
            <a:avLst>
              <a:gd name="adj" fmla="val 243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24448" y="2423160"/>
            <a:ext cx="91440" cy="338328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8" y="27432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30288" y="2724912"/>
            <a:ext cx="411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330288" y="2962656"/>
            <a:ext cx="411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workflow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735928" y="3611880"/>
            <a:ext cx="4568800" cy="1759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in a loop, multi-step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+ retrieves your data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tools, APIs, other agents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Observable, guardrailed, evaluated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workflow, in 8 layers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51790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AI system is built up this stack. Today we climb it bottom-to-top — and demo the agentic core.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6928" y="2084832"/>
            <a:ext cx="5323180" cy="859536"/>
          </a:xfrm>
          <a:prstGeom prst="roundRect">
            <a:avLst>
              <a:gd name="adj" fmla="val 9574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2768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60A5F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604" y="2249424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4168" y="2231136"/>
            <a:ext cx="386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Foundations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44168" y="2560320"/>
            <a:ext cx="436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predictor. Stochastic by design.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3090672"/>
            <a:ext cx="5323180" cy="859536"/>
          </a:xfrm>
          <a:prstGeom prst="roundRect">
            <a:avLst>
              <a:gd name="adj" fmla="val 9574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2826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8BDF8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282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604" y="325526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44168" y="3236976"/>
            <a:ext cx="386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44168" y="3566160"/>
            <a:ext cx="436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task -&gt; reliable, structured output.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4096512"/>
            <a:ext cx="5323180" cy="859536"/>
          </a:xfrm>
          <a:prstGeom prst="roundRect">
            <a:avLst>
              <a:gd name="adj" fmla="val 9574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28853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2D3EE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" y="428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604" y="426110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44168" y="4242816"/>
            <a:ext cx="386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APIs &amp; SDKs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344168" y="4572000"/>
            <a:ext cx="436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async, retries, cost tracking.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66928" y="5102352"/>
            <a:ext cx="5323180" cy="859536"/>
          </a:xfrm>
          <a:prstGeom prst="roundRect">
            <a:avLst>
              <a:gd name="adj" fmla="val 9574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1520" y="529437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BBF24"/>
          </a:solidFill>
          <a:ln/>
        </p:spPr>
      </p:sp>
      <p:sp>
        <p:nvSpPr>
          <p:cNvPr id="27" name="Text 21"/>
          <p:cNvSpPr/>
          <p:nvPr/>
        </p:nvSpPr>
        <p:spPr>
          <a:xfrm>
            <a:off x="731520" y="5294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604" y="5266944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44168" y="5248656"/>
            <a:ext cx="386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1344168" y="5577840"/>
            <a:ext cx="436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your functions. Agentic begins.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301588" y="2084832"/>
            <a:ext cx="5323180" cy="859536"/>
          </a:xfrm>
          <a:prstGeom prst="roundRect">
            <a:avLst>
              <a:gd name="adj" fmla="val 9574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66180" y="22768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DD4BF"/>
          </a:solidFill>
          <a:ln/>
        </p:spPr>
      </p:sp>
      <p:sp>
        <p:nvSpPr>
          <p:cNvPr id="33" name="Text 26"/>
          <p:cNvSpPr/>
          <p:nvPr/>
        </p:nvSpPr>
        <p:spPr>
          <a:xfrm>
            <a:off x="6466180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1263" y="2249424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078828" y="2231136"/>
            <a:ext cx="386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&amp; Vector DBs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7078828" y="2560320"/>
            <a:ext cx="436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YOUR data, not training data.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6301588" y="3090672"/>
            <a:ext cx="5323180" cy="859536"/>
          </a:xfrm>
          <a:prstGeom prst="roundRect">
            <a:avLst>
              <a:gd name="adj" fmla="val 9574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466180" y="32826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/>
        </p:spPr>
      </p:sp>
      <p:sp>
        <p:nvSpPr>
          <p:cNvPr id="39" name="Text 31"/>
          <p:cNvSpPr/>
          <p:nvPr/>
        </p:nvSpPr>
        <p:spPr>
          <a:xfrm>
            <a:off x="6466180" y="3282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263" y="3255264"/>
            <a:ext cx="384048" cy="38404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078828" y="3236976"/>
            <a:ext cx="386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Patterns</a:t>
            </a:r>
            <a:endParaRPr lang="en-US" sz="1600" dirty="0"/>
          </a:p>
        </p:txBody>
      </p:sp>
      <p:sp>
        <p:nvSpPr>
          <p:cNvPr id="42" name="Text 33"/>
          <p:cNvSpPr/>
          <p:nvPr/>
        </p:nvSpPr>
        <p:spPr>
          <a:xfrm>
            <a:off x="7078828" y="3566160"/>
            <a:ext cx="436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Plan-Execute, Reflection, Multi-agent.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6301588" y="4096512"/>
            <a:ext cx="5323180" cy="859536"/>
          </a:xfrm>
          <a:prstGeom prst="roundRect">
            <a:avLst>
              <a:gd name="adj" fmla="val 9574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6466180" y="428853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818CF8"/>
          </a:solidFill>
          <a:ln/>
        </p:spPr>
      </p:sp>
      <p:sp>
        <p:nvSpPr>
          <p:cNvPr id="45" name="Text 36"/>
          <p:cNvSpPr/>
          <p:nvPr/>
        </p:nvSpPr>
        <p:spPr>
          <a:xfrm>
            <a:off x="6466180" y="428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1263" y="4261104"/>
            <a:ext cx="384048" cy="38404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078828" y="4242816"/>
            <a:ext cx="386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48" name="Text 38"/>
          <p:cNvSpPr/>
          <p:nvPr/>
        </p:nvSpPr>
        <p:spPr>
          <a:xfrm>
            <a:off x="7078828" y="4572000"/>
            <a:ext cx="436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MCP, CrewAI — graduate to these.</a:t>
            </a:r>
            <a:endParaRPr lang="en-US" sz="1150" dirty="0"/>
          </a:p>
        </p:txBody>
      </p:sp>
      <p:sp>
        <p:nvSpPr>
          <p:cNvPr id="49" name="Shape 39"/>
          <p:cNvSpPr/>
          <p:nvPr/>
        </p:nvSpPr>
        <p:spPr>
          <a:xfrm>
            <a:off x="6301588" y="5102352"/>
            <a:ext cx="5323180" cy="859536"/>
          </a:xfrm>
          <a:prstGeom prst="roundRect">
            <a:avLst>
              <a:gd name="adj" fmla="val 9574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6466180" y="529437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A78BFA"/>
          </a:solidFill>
          <a:ln/>
        </p:spPr>
      </p:sp>
      <p:sp>
        <p:nvSpPr>
          <p:cNvPr id="51" name="Text 41"/>
          <p:cNvSpPr/>
          <p:nvPr/>
        </p:nvSpPr>
        <p:spPr>
          <a:xfrm>
            <a:off x="6466180" y="5294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21263" y="5266944"/>
            <a:ext cx="384048" cy="384048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078828" y="5248656"/>
            <a:ext cx="386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/ LLMOps</a:t>
            </a:r>
            <a:endParaRPr lang="en-US" sz="1600" dirty="0"/>
          </a:p>
        </p:txBody>
      </p:sp>
      <p:sp>
        <p:nvSpPr>
          <p:cNvPr id="54" name="Text 43"/>
          <p:cNvSpPr/>
          <p:nvPr/>
        </p:nvSpPr>
        <p:spPr>
          <a:xfrm>
            <a:off x="7078828" y="5577840"/>
            <a:ext cx="436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guardrails, eval, cost.</a:t>
            </a:r>
            <a:endParaRPr lang="en-US" sz="1150" dirty="0"/>
          </a:p>
        </p:txBody>
      </p:sp>
      <p:sp>
        <p:nvSpPr>
          <p:cNvPr id="55" name="Shape 4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57" name="Text 46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60A5F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 &amp; 2 · FOUNDATION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+ how you talk to it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974275" y="566928"/>
            <a:ext cx="146304" cy="146304"/>
          </a:xfrm>
          <a:prstGeom prst="oval">
            <a:avLst/>
          </a:prstGeom>
          <a:solidFill>
            <a:srgbClr val="60A5FA"/>
          </a:solidFill>
          <a:ln/>
        </p:spPr>
      </p:sp>
      <p:sp>
        <p:nvSpPr>
          <p:cNvPr id="7" name="Shape 4"/>
          <p:cNvSpPr/>
          <p:nvPr/>
        </p:nvSpPr>
        <p:spPr>
          <a:xfrm>
            <a:off x="1018915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040404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061892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10833811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1" name="Shape 8"/>
          <p:cNvSpPr/>
          <p:nvPr/>
        </p:nvSpPr>
        <p:spPr>
          <a:xfrm>
            <a:off x="1104869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2" name="Shape 9"/>
          <p:cNvSpPr/>
          <p:nvPr/>
        </p:nvSpPr>
        <p:spPr>
          <a:xfrm>
            <a:off x="1126357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3" name="Shape 10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 OF 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" y="1600200"/>
            <a:ext cx="5300320" cy="4114800"/>
          </a:xfrm>
          <a:prstGeom prst="roundRect">
            <a:avLst>
              <a:gd name="adj" fmla="val 20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600200"/>
            <a:ext cx="91440" cy="41148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7" name="Text 14"/>
          <p:cNvSpPr/>
          <p:nvPr/>
        </p:nvSpPr>
        <p:spPr>
          <a:xfrm>
            <a:off x="932688" y="1874520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WHAT AN LLM ACTUALLY IS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32688" y="2286000"/>
            <a:ext cx="4568800" cy="1832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next-token predictor — not a database, not a reasoner.</a:t>
            </a:r>
            <a:endParaRPr lang="en-US" sz="13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stochastic: same prompt can vary (temperature).</a:t>
            </a:r>
            <a:endParaRPr lang="en-US" sz="13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calls — you supply all context every time.</a:t>
            </a:r>
            <a:endParaRPr lang="en-US" sz="13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 = hallucination. Plan for it.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32688" y="4892040"/>
            <a:ext cx="456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takeaway: treat the model as an unreliable function. Constrain it, verify it, give it the context it needs.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24448" y="1600200"/>
            <a:ext cx="5300320" cy="4114800"/>
          </a:xfrm>
          <a:prstGeom prst="roundRect">
            <a:avLst>
              <a:gd name="adj" fmla="val 20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24448" y="1600200"/>
            <a:ext cx="91440" cy="4114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19"/>
          <p:cNvSpPr/>
          <p:nvPr/>
        </p:nvSpPr>
        <p:spPr>
          <a:xfrm>
            <a:off x="6690208" y="1874520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PROMPTING = RELIABILITY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90208" y="2286000"/>
            <a:ext cx="4568800" cy="1832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= role + rules + output contract.</a:t>
            </a:r>
            <a:endParaRPr lang="en-US" sz="13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+ chain-of-thought for harder reasoning.</a:t>
            </a:r>
            <a:endParaRPr lang="en-US" sz="13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structured output (JSON / Pydantic) — parse, don’t hope.</a:t>
            </a:r>
            <a:endParaRPr lang="en-US" sz="13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a vague task → the same valid shape, every time.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690208" y="4434840"/>
            <a:ext cx="4568800" cy="1188720"/>
          </a:xfrm>
          <a:prstGeom prst="roundRect">
            <a:avLst>
              <a:gd name="adj" fmla="val 4615"/>
            </a:avLst>
          </a:prstGeom>
          <a:solidFill>
            <a:srgbClr val="0A0F1C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91376" y="4617720"/>
            <a:ext cx="109728" cy="109728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26" name="Shape 23"/>
          <p:cNvSpPr/>
          <p:nvPr/>
        </p:nvSpPr>
        <p:spPr>
          <a:xfrm>
            <a:off x="7110832" y="4617720"/>
            <a:ext cx="109728" cy="109728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27" name="Shape 24"/>
          <p:cNvSpPr/>
          <p:nvPr/>
        </p:nvSpPr>
        <p:spPr>
          <a:xfrm>
            <a:off x="7330288" y="4617720"/>
            <a:ext cx="109728" cy="10972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28" name="Text 25"/>
          <p:cNvSpPr/>
          <p:nvPr/>
        </p:nvSpPr>
        <p:spPr>
          <a:xfrm>
            <a:off x="9247327" y="4544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946240" y="4892040"/>
            <a:ext cx="411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response_format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MyModel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typed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# deterministic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THE PLUMBING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model, real engineering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97427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018915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0404043" y="566928"/>
            <a:ext cx="146304" cy="146304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9" name="Shape 6"/>
          <p:cNvSpPr/>
          <p:nvPr/>
        </p:nvSpPr>
        <p:spPr>
          <a:xfrm>
            <a:off x="1061892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10833811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1" name="Shape 8"/>
          <p:cNvSpPr/>
          <p:nvPr/>
        </p:nvSpPr>
        <p:spPr>
          <a:xfrm>
            <a:off x="1104869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2" name="Shape 9"/>
          <p:cNvSpPr/>
          <p:nvPr/>
        </p:nvSpPr>
        <p:spPr>
          <a:xfrm>
            <a:off x="1126357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3" name="Shape 10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 OF 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" y="15544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the easy part. Shipping it means handling latency, failure, concurrency, and cost — the same problems as any distributed system.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2286000"/>
            <a:ext cx="2490140" cy="3200400"/>
          </a:xfrm>
          <a:prstGeom prst="roundRect">
            <a:avLst>
              <a:gd name="adj" fmla="val 330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427950" y="2670048"/>
            <a:ext cx="768096" cy="768096"/>
          </a:xfrm>
          <a:prstGeom prst="oval">
            <a:avLst/>
          </a:prstGeom>
          <a:solidFill>
            <a:srgbClr val="1C2C49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42" y="2834640"/>
            <a:ext cx="438912" cy="4389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37033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86384" y="4160520"/>
            <a:ext cx="20512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output. Perceived latency drops; UX feels instant.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22828" y="2286000"/>
            <a:ext cx="2490140" cy="3200400"/>
          </a:xfrm>
          <a:prstGeom prst="roundRect">
            <a:avLst>
              <a:gd name="adj" fmla="val 330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283850" y="2670048"/>
            <a:ext cx="768096" cy="768096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442" y="2834640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587420" y="37033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 &amp; Parallel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3642284" y="4160520"/>
            <a:ext cx="20512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 N calls concurrently. 10x throughput on batch work.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78728" y="2286000"/>
            <a:ext cx="2490140" cy="3200400"/>
          </a:xfrm>
          <a:prstGeom prst="roundRect">
            <a:avLst>
              <a:gd name="adj" fmla="val 330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139750" y="2670048"/>
            <a:ext cx="768096" cy="768096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342" y="2834640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43320" y="37033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Retries &amp; Backoff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498184" y="4160520"/>
            <a:ext cx="20512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+ timeouts are normal. Exponential backoff, idempotency.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134627" y="2286000"/>
            <a:ext cx="2490140" cy="3200400"/>
          </a:xfrm>
          <a:prstGeom prst="roundRect">
            <a:avLst>
              <a:gd name="adj" fmla="val 330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995649" y="2670048"/>
            <a:ext cx="768096" cy="768096"/>
          </a:xfrm>
          <a:prstGeom prst="oval">
            <a:avLst/>
          </a:prstGeom>
          <a:solidFill>
            <a:srgbClr val="1C2C49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241" y="2834640"/>
            <a:ext cx="438912" cy="43891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299219" y="37033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Tracking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9354083" y="4160520"/>
            <a:ext cx="20512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= money. Meter per request; pick the cheapest model that passes.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 demo ignores all four. Production lives or dies on them.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WHERE AGENTIC BEGINS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use: the LLM acts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97427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018915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040404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0618927" y="566928"/>
            <a:ext cx="146304" cy="146304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10833811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1" name="Shape 8"/>
          <p:cNvSpPr/>
          <p:nvPr/>
        </p:nvSpPr>
        <p:spPr>
          <a:xfrm>
            <a:off x="1104869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2" name="Shape 9"/>
          <p:cNvSpPr/>
          <p:nvPr/>
        </p:nvSpPr>
        <p:spPr>
          <a:xfrm>
            <a:off x="1126357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3" name="Shape 10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4 OF 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" y="17373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 the model a menu of functions (name + schema + when-to-use).</a:t>
            </a:r>
            <a:endParaRPr lang="en-US" sz="1400" dirty="0"/>
          </a:p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picks the tool and fills the arguments — you execute the code.</a:t>
            </a:r>
            <a:endParaRPr lang="en-US" sz="1400" dirty="0"/>
          </a:p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goes back in; it decides the next step.</a:t>
            </a:r>
            <a:endParaRPr lang="en-US" sz="1400" dirty="0"/>
          </a:p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 quality = agent reliability. Write them like docs.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6928" y="4572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capability — call a function, read the result, decide again — is the seed of every agent.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07608" y="1691640"/>
            <a:ext cx="5617159" cy="4160520"/>
          </a:xfrm>
          <a:prstGeom prst="roundRect">
            <a:avLst>
              <a:gd name="adj" fmla="val 1978"/>
            </a:avLst>
          </a:prstGeom>
          <a:solidFill>
            <a:srgbClr val="0E182B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07608" y="1874520"/>
            <a:ext cx="5617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TOOL-USE LOOP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39128" y="2331720"/>
            <a:ext cx="4154119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39128" y="2331720"/>
            <a:ext cx="82296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8"/>
          <p:cNvSpPr/>
          <p:nvPr/>
        </p:nvSpPr>
        <p:spPr>
          <a:xfrm>
            <a:off x="7013448" y="2377440"/>
            <a:ext cx="36969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LLM decides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013448" y="2679192"/>
            <a:ext cx="3696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“I should call get_weather”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739128" y="3200400"/>
            <a:ext cx="4154119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39128" y="3200400"/>
            <a:ext cx="82296" cy="6583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2"/>
          <p:cNvSpPr/>
          <p:nvPr/>
        </p:nvSpPr>
        <p:spPr>
          <a:xfrm>
            <a:off x="7013448" y="3246120"/>
            <a:ext cx="36969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Tool executes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013448" y="3547872"/>
            <a:ext cx="3696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get_weather('Mumbai') → 32°C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39128" y="4069080"/>
            <a:ext cx="4154119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739128" y="4069080"/>
            <a:ext cx="82296" cy="65836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9" name="Text 26"/>
          <p:cNvSpPr/>
          <p:nvPr/>
        </p:nvSpPr>
        <p:spPr>
          <a:xfrm>
            <a:off x="7013448" y="4114800"/>
            <a:ext cx="36969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Observation in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013448" y="4416552"/>
            <a:ext cx="3696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 result back to the model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739128" y="4937760"/>
            <a:ext cx="4154119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739128" y="4937760"/>
            <a:ext cx="82296" cy="6583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3" name="Text 30"/>
          <p:cNvSpPr/>
          <p:nvPr/>
        </p:nvSpPr>
        <p:spPr>
          <a:xfrm>
            <a:off x="7013448" y="4983480"/>
            <a:ext cx="36969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Answer or loop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7013448" y="5285232"/>
            <a:ext cx="3696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done? respond. else → step 1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633308" y="29352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↓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633308" y="3803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↓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633308" y="46725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↓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YOUR DATA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RAG: ground the model in truth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97427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018915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040404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061892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10833811" y="566928"/>
            <a:ext cx="146304" cy="146304"/>
          </a:xfrm>
          <a:prstGeom prst="oval">
            <a:avLst/>
          </a:prstGeom>
          <a:solidFill>
            <a:srgbClr val="2DD4BF"/>
          </a:solidFill>
          <a:ln/>
        </p:spPr>
      </p:sp>
      <p:sp>
        <p:nvSpPr>
          <p:cNvPr id="11" name="Shape 8"/>
          <p:cNvSpPr/>
          <p:nvPr/>
        </p:nvSpPr>
        <p:spPr>
          <a:xfrm>
            <a:off x="1104869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2" name="Shape 9"/>
          <p:cNvSpPr/>
          <p:nvPr/>
        </p:nvSpPr>
        <p:spPr>
          <a:xfrm>
            <a:off x="1126357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3" name="Shape 10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5 OF 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" y="153619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don’t know your docs, your tickets, or last week’s release. RAG retrieves the right chunks and puts them in context — cutting hallucination and citing sources.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2331720"/>
            <a:ext cx="1977481" cy="2286000"/>
          </a:xfrm>
          <a:prstGeom prst="roundRect">
            <a:avLst>
              <a:gd name="adj" fmla="val 416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1520" y="2459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226485" y="2788920"/>
            <a:ext cx="658368" cy="658368"/>
          </a:xfrm>
          <a:prstGeom prst="oval">
            <a:avLst/>
          </a:prstGeom>
          <a:solidFill>
            <a:srgbClr val="1C2C49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89" y="2935224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928" y="3611880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658368" y="3995928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docs smartly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562697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2837017" y="2331720"/>
            <a:ext cx="1977481" cy="2286000"/>
          </a:xfrm>
          <a:prstGeom prst="roundRect">
            <a:avLst>
              <a:gd name="adj" fmla="val 416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3001609" y="2459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3496574" y="2788920"/>
            <a:ext cx="658368" cy="658368"/>
          </a:xfrm>
          <a:prstGeom prst="oval">
            <a:avLst/>
          </a:prstGeom>
          <a:solidFill>
            <a:srgbClr val="1C2C49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878" y="2935224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837017" y="3611880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2928457" y="3995928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832787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107107" y="2331720"/>
            <a:ext cx="1977481" cy="2286000"/>
          </a:xfrm>
          <a:prstGeom prst="roundRect">
            <a:avLst>
              <a:gd name="adj" fmla="val 416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5271699" y="2459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5766664" y="2788920"/>
            <a:ext cx="658368" cy="658368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68" y="2935224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107107" y="3611880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550" dirty="0"/>
          </a:p>
        </p:txBody>
      </p:sp>
      <p:sp>
        <p:nvSpPr>
          <p:cNvPr id="35" name="Text 29"/>
          <p:cNvSpPr/>
          <p:nvPr/>
        </p:nvSpPr>
        <p:spPr>
          <a:xfrm>
            <a:off x="5198547" y="3995928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BM25 + vector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102876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7377196" y="2331720"/>
            <a:ext cx="1977481" cy="2286000"/>
          </a:xfrm>
          <a:prstGeom prst="roundRect">
            <a:avLst>
              <a:gd name="adj" fmla="val 416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7541788" y="2459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8036753" y="2788920"/>
            <a:ext cx="658368" cy="658368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057" y="2935224"/>
            <a:ext cx="365760" cy="36576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377196" y="3611880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Rerank</a:t>
            </a:r>
            <a:endParaRPr lang="en-US" sz="1550" dirty="0"/>
          </a:p>
        </p:txBody>
      </p:sp>
      <p:sp>
        <p:nvSpPr>
          <p:cNvPr id="42" name="Text 35"/>
          <p:cNvSpPr/>
          <p:nvPr/>
        </p:nvSpPr>
        <p:spPr>
          <a:xfrm>
            <a:off x="7468636" y="3995928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by relevance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9372966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9647286" y="2331720"/>
            <a:ext cx="1977481" cy="2286000"/>
          </a:xfrm>
          <a:prstGeom prst="roundRect">
            <a:avLst>
              <a:gd name="adj" fmla="val 416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9811878" y="2459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10306842" y="2788920"/>
            <a:ext cx="658368" cy="658368"/>
          </a:xfrm>
          <a:prstGeom prst="oval">
            <a:avLst/>
          </a:prstGeom>
          <a:solidFill>
            <a:srgbClr val="1C2C49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3146" y="2935224"/>
            <a:ext cx="365760" cy="36576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647286" y="3611880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550" dirty="0"/>
          </a:p>
        </p:txBody>
      </p:sp>
      <p:sp>
        <p:nvSpPr>
          <p:cNvPr id="49" name="Text 41"/>
          <p:cNvSpPr/>
          <p:nvPr/>
        </p:nvSpPr>
        <p:spPr>
          <a:xfrm>
            <a:off x="9738726" y="3995928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566928" y="49834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levers:  </a:t>
            </a:r>
            <a:pPr algn="ctr" indent="0" marL="0">
              <a:buNone/>
            </a:pPr>
            <a:r>
              <a:rPr lang="en-US" sz="13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 · embedding model · hybrid search · reranking · </a:t>
            </a:r>
            <a:pPr algn="ctr"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 RAGAS (faithfulness, relevance).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· THE TOOLBOX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design patterns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97427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018915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040404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061892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10833811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1" name="Shape 8"/>
          <p:cNvSpPr/>
          <p:nvPr/>
        </p:nvSpPr>
        <p:spPr>
          <a:xfrm>
            <a:off x="11048695" y="566928"/>
            <a:ext cx="146304" cy="146304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1126357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3" name="Shape 10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6 OF 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" y="151790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shapes for orchestrating reasoning. Most real systems combine two or three.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66928" y="2057400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1248" y="2350008"/>
            <a:ext cx="603504" cy="603504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48716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91056" y="2368296"/>
            <a:ext cx="22533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3048914" y="2295144"/>
            <a:ext cx="777240" cy="237744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877824" y="3044952"/>
            <a:ext cx="28934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observe, in a loop. The default agent.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374794" y="2057400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49114" y="2350008"/>
            <a:ext cx="603504" cy="603504"/>
          </a:xfrm>
          <a:prstGeom prst="oval">
            <a:avLst/>
          </a:prstGeom>
          <a:solidFill>
            <a:srgbClr val="1C2C49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274" y="248716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98922" y="2368296"/>
            <a:ext cx="22533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&amp; Execute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4685690" y="3044952"/>
            <a:ext cx="28934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full plan first, then run each step.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182661" y="2057400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456981" y="2350008"/>
            <a:ext cx="603504" cy="603504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4141" y="248716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06789" y="2368296"/>
            <a:ext cx="22533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8493557" y="3044952"/>
            <a:ext cx="28934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own output, then revise. Quality boost.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66928" y="4105656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41248" y="4398264"/>
            <a:ext cx="603504" cy="603504"/>
          </a:xfrm>
          <a:prstGeom prst="oval">
            <a:avLst/>
          </a:prstGeom>
          <a:solidFill>
            <a:srgbClr val="1C2C49"/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535424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91056" y="4416552"/>
            <a:ext cx="22533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3048914" y="4343400"/>
            <a:ext cx="777240" cy="237744"/>
          </a:xfrm>
          <a:prstGeom prst="rect">
            <a:avLst/>
          </a:prstGeom>
          <a:solidFill>
            <a:srgbClr val="A78BFA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877824" y="5093208"/>
            <a:ext cx="28934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delegates to specialist workers.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4374794" y="4105656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649114" y="4398264"/>
            <a:ext cx="603504" cy="603504"/>
          </a:xfrm>
          <a:prstGeom prst="oval">
            <a:avLst/>
          </a:prstGeom>
          <a:solidFill>
            <a:srgbClr val="1C2C49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274" y="4535424"/>
            <a:ext cx="329184" cy="32918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398922" y="4416552"/>
            <a:ext cx="22533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</a:t>
            </a:r>
            <a:endParaRPr lang="en-US" sz="1700" dirty="0"/>
          </a:p>
        </p:txBody>
      </p:sp>
      <p:sp>
        <p:nvSpPr>
          <p:cNvPr id="42" name="Text 34"/>
          <p:cNvSpPr/>
          <p:nvPr/>
        </p:nvSpPr>
        <p:spPr>
          <a:xfrm>
            <a:off x="4685690" y="5093208"/>
            <a:ext cx="28934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request, send to the right path/model.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8182661" y="4105656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8456981" y="4398264"/>
            <a:ext cx="603504" cy="603504"/>
          </a:xfrm>
          <a:prstGeom prst="oval">
            <a:avLst/>
          </a:prstGeom>
          <a:solidFill>
            <a:srgbClr val="1C2C49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4141" y="4535424"/>
            <a:ext cx="329184" cy="32918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9206789" y="4416552"/>
            <a:ext cx="22533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Human-in-Loop</a:t>
            </a:r>
            <a:endParaRPr lang="en-US" sz="1700" dirty="0"/>
          </a:p>
        </p:txBody>
      </p:sp>
      <p:sp>
        <p:nvSpPr>
          <p:cNvPr id="47" name="Text 38"/>
          <p:cNvSpPr/>
          <p:nvPr/>
        </p:nvSpPr>
        <p:spPr>
          <a:xfrm>
            <a:off x="8493557" y="5093208"/>
            <a:ext cx="28934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approval on risky / costly actions.</a:t>
            </a:r>
            <a:endParaRPr lang="en-US" sz="1200" dirty="0"/>
          </a:p>
        </p:txBody>
      </p:sp>
      <p:sp>
        <p:nvSpPr>
          <p:cNvPr id="48" name="Shape 39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DISTINCTION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 vs. Agents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51790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Anthropic’s framing — and the single most useful design decision you’ll make.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6928" y="2011680"/>
            <a:ext cx="5300320" cy="3246120"/>
          </a:xfrm>
          <a:prstGeom prst="roundRect">
            <a:avLst>
              <a:gd name="adj" fmla="val 253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2011680"/>
            <a:ext cx="91440" cy="3246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2212848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" y="2505456"/>
            <a:ext cx="466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steps wired by predefined code paths.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32688" y="2907792"/>
            <a:ext cx="4568800" cy="1690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— step → step → step</a:t>
            </a:r>
            <a:endParaRPr lang="en-US" sz="130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— classify, then branch</a:t>
            </a:r>
            <a:endParaRPr lang="en-US" sz="130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— fan out, aggregate</a:t>
            </a:r>
            <a:endParaRPr lang="en-US" sz="130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Orchestrator–workers · Evaluator–optimizer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32688" y="4754880"/>
            <a:ext cx="456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cheap, debuggable. Start here.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24448" y="2011680"/>
            <a:ext cx="5300320" cy="3246120"/>
          </a:xfrm>
          <a:prstGeom prst="roundRect">
            <a:avLst>
              <a:gd name="adj" fmla="val 253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24448" y="2011680"/>
            <a:ext cx="91440" cy="32461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2"/>
          <p:cNvSpPr/>
          <p:nvPr/>
        </p:nvSpPr>
        <p:spPr>
          <a:xfrm>
            <a:off x="6690208" y="2212848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90208" y="2505456"/>
            <a:ext cx="466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directs its own process &amp; tool use.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690208" y="2907792"/>
            <a:ext cx="4568800" cy="1690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— no fixed path</a:t>
            </a:r>
            <a:endParaRPr lang="en-US" sz="130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done (or budget hit)</a:t>
            </a:r>
            <a:endParaRPr lang="en-US" sz="130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ambiguity &amp; dynamic steps</a:t>
            </a:r>
            <a:endParaRPr lang="en-US" sz="130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guardrails, limits, observability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90208" y="4754880"/>
            <a:ext cx="456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costlier, harder to predict.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66928" y="5468112"/>
            <a:ext cx="11057839" cy="658368"/>
          </a:xfrm>
          <a:prstGeom prst="roundRect">
            <a:avLst>
              <a:gd name="adj" fmla="val 12500"/>
            </a:avLst>
          </a:prstGeom>
          <a:solidFill>
            <a:srgbClr val="1C2C49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41248" y="5468112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pPr algn="ctr"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simplest thing that works. Reach for an agent only when the path can’t be hard-coded.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ReAct: the loop we’ll build live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97427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018915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040404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061892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10833811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1" name="Shape 8"/>
          <p:cNvSpPr/>
          <p:nvPr/>
        </p:nvSpPr>
        <p:spPr>
          <a:xfrm>
            <a:off x="11048695" y="566928"/>
            <a:ext cx="146304" cy="146304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12" name="Shape 9"/>
          <p:cNvSpPr/>
          <p:nvPr/>
        </p:nvSpPr>
        <p:spPr>
          <a:xfrm>
            <a:off x="1126357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3" name="Shape 10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6 OF 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" y="162763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Acting interleaved. The model writes its thought, names a tool, reads the result, and repeats until it can answer — all driven by one structured prompt.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6928" y="2697480"/>
            <a:ext cx="5486400" cy="1520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needed — it’s a prompt + a parse + a while-loop.</a:t>
            </a:r>
            <a:endParaRPr lang="en-US" sz="1350" dirty="0"/>
          </a:p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sequence on “Observation:” hands control back to your code.</a:t>
            </a:r>
            <a:endParaRPr lang="en-US" sz="1350" dirty="0"/>
          </a:p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adds: max-iterations, timeout, $ budget, stuck-detection.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510528" y="1645920"/>
            <a:ext cx="5114239" cy="4206240"/>
          </a:xfrm>
          <a:prstGeom prst="roundRect">
            <a:avLst>
              <a:gd name="adj" fmla="val 1304"/>
            </a:avLst>
          </a:prstGeom>
          <a:solidFill>
            <a:srgbClr val="0A0F1C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11696" y="1828800"/>
            <a:ext cx="109728" cy="109728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19" name="Shape 16"/>
          <p:cNvSpPr/>
          <p:nvPr/>
        </p:nvSpPr>
        <p:spPr>
          <a:xfrm>
            <a:off x="6931152" y="1828800"/>
            <a:ext cx="109728" cy="109728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20" name="Shape 17"/>
          <p:cNvSpPr/>
          <p:nvPr/>
        </p:nvSpPr>
        <p:spPr>
          <a:xfrm>
            <a:off x="7150608" y="1828800"/>
            <a:ext cx="109728" cy="10972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21" name="Text 18"/>
          <p:cNvSpPr/>
          <p:nvPr/>
        </p:nvSpPr>
        <p:spPr>
          <a:xfrm>
            <a:off x="9613087" y="1755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· live transcript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6560" y="2103120"/>
            <a:ext cx="4657039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need the weather in Mumbai.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get_weather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Input: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{"city": "Mumbai"}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32°C, sunny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Now compute 25 * 8.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calculator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Input: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"25 * 8"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200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have everything.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Mumbai is 32°C; 25×8 = 200.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6400800" cy="6400800"/>
          </a:xfrm>
          <a:prstGeom prst="oval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40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72237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" y="640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13258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agent — from scratch, no framework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219456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0A0F1C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" y="2377440"/>
            <a:ext cx="109728" cy="109728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2377440"/>
            <a:ext cx="109728" cy="109728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1207008" y="2377440"/>
            <a:ext cx="109728" cy="10972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1" name="Text 8"/>
          <p:cNvSpPr/>
          <p:nvPr/>
        </p:nvSpPr>
        <p:spPr>
          <a:xfrm>
            <a:off x="4133088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2651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Level6_Agent_Patterns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04_react_pattern_practical.py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3337560"/>
            <a:ext cx="5577840" cy="2651760"/>
          </a:xfrm>
          <a:prstGeom prst="roundRect">
            <a:avLst>
              <a:gd name="adj" fmla="val 3103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86968" y="3520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6968" y="3886200"/>
            <a:ext cx="4937760" cy="1767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Thought → Action → Observation trace, step by step</a:t>
            </a:r>
            <a:endParaRPr lang="en-US" sz="12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 chained in one question (weather + math)</a:t>
            </a:r>
            <a:endParaRPr lang="en-US" sz="12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 prints cost, iterations, tools used</a:t>
            </a:r>
            <a:endParaRPr lang="en-US" sz="12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stops: timeout · budget · stuck-detection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10528" y="2194560"/>
            <a:ext cx="5114239" cy="3794760"/>
          </a:xfrm>
          <a:prstGeom prst="roundRect">
            <a:avLst>
              <a:gd name="adj" fmla="val 2169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30568" y="2377440"/>
            <a:ext cx="4474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30568" y="2633472"/>
            <a:ext cx="44741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Level6_Agent_Patterns/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04_react_pattern_practical.py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830568" y="3291840"/>
            <a:ext cx="4474159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0568" y="3401568"/>
            <a:ext cx="4474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LAYERS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30568" y="3657600"/>
            <a:ext cx="4474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· 2 Prompt · 4 Tools · 6 ReAct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830568" y="4114800"/>
            <a:ext cx="4474159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30568" y="4224528"/>
            <a:ext cx="4474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KEY?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30568" y="4480560"/>
            <a:ext cx="44741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runs in safe mode and prints [NO_API_KEY] — walk the printed trace instead.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· GRADUATE UP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Frameworks: when to reach for them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97427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018915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040404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061892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10833811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1" name="Shape 8"/>
          <p:cNvSpPr/>
          <p:nvPr/>
        </p:nvSpPr>
        <p:spPr>
          <a:xfrm>
            <a:off x="1104869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2" name="Shape 9"/>
          <p:cNvSpPr/>
          <p:nvPr/>
        </p:nvSpPr>
        <p:spPr>
          <a:xfrm>
            <a:off x="11263579" y="566928"/>
            <a:ext cx="146304" cy="146304"/>
          </a:xfrm>
          <a:prstGeom prst="oval">
            <a:avLst/>
          </a:prstGeom>
          <a:solidFill>
            <a:srgbClr val="818CF8"/>
          </a:solidFill>
          <a:ln/>
        </p:spPr>
      </p:sp>
      <p:sp>
        <p:nvSpPr>
          <p:cNvPr id="13" name="Shape 10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7 OF 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" y="153619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loop by hand first — you’ll understand what frameworks hide. Then adopt one for state, durability, and standard integrations.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2240280"/>
            <a:ext cx="11057839" cy="841248"/>
          </a:xfrm>
          <a:prstGeom prst="roundRect">
            <a:avLst>
              <a:gd name="adj" fmla="val 9783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" y="2240280"/>
            <a:ext cx="91440" cy="84124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5"/>
          <p:cNvSpPr/>
          <p:nvPr/>
        </p:nvSpPr>
        <p:spPr>
          <a:xfrm>
            <a:off x="886968" y="2313432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6968" y="278892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818CF8"/>
          </a:solidFill>
          <a:ln/>
        </p:spPr>
      </p:sp>
      <p:sp>
        <p:nvSpPr>
          <p:cNvPr id="20" name="Text 17"/>
          <p:cNvSpPr/>
          <p:nvPr/>
        </p:nvSpPr>
        <p:spPr>
          <a:xfrm>
            <a:off x="886968" y="27797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MUST-KNOW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224528" y="2313432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agent graphs — nodes, edges, checkpoints, human-in-loop.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16568" y="2313432"/>
            <a:ext cx="2325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 </a:t>
            </a:r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durable, multi-step workflows.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66928" y="3209544"/>
            <a:ext cx="11057839" cy="841248"/>
          </a:xfrm>
          <a:prstGeom prst="roundRect">
            <a:avLst>
              <a:gd name="adj" fmla="val 9783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6928" y="3209544"/>
            <a:ext cx="91440" cy="8412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Text 22"/>
          <p:cNvSpPr/>
          <p:nvPr/>
        </p:nvSpPr>
        <p:spPr>
          <a:xfrm>
            <a:off x="886968" y="3282696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86968" y="3758184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2DD4BF"/>
          </a:solidFill>
          <a:ln/>
        </p:spPr>
      </p:sp>
      <p:sp>
        <p:nvSpPr>
          <p:cNvPr id="27" name="Text 24"/>
          <p:cNvSpPr/>
          <p:nvPr/>
        </p:nvSpPr>
        <p:spPr>
          <a:xfrm>
            <a:off x="886968" y="37490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MUST-KNOW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224528" y="328269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a USB-C standard for tools &amp; data sources.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116568" y="3282696"/>
            <a:ext cx="2325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 </a:t>
            </a:r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tools across apps &amp; models.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66928" y="4178808"/>
            <a:ext cx="11057839" cy="841248"/>
          </a:xfrm>
          <a:prstGeom prst="roundRect">
            <a:avLst>
              <a:gd name="adj" fmla="val 9783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66928" y="4178808"/>
            <a:ext cx="91440" cy="8412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2" name="Text 29"/>
          <p:cNvSpPr/>
          <p:nvPr/>
        </p:nvSpPr>
        <p:spPr>
          <a:xfrm>
            <a:off x="886968" y="425196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CrewAI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224528" y="425196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crews of agents with goals and delegation.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9116568" y="4251960"/>
            <a:ext cx="2325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 </a:t>
            </a:r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multi-agent prototypes.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66928" y="5148072"/>
            <a:ext cx="11057839" cy="841248"/>
          </a:xfrm>
          <a:prstGeom prst="roundRect">
            <a:avLst>
              <a:gd name="adj" fmla="val 9783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66928" y="5148072"/>
            <a:ext cx="91440" cy="8412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Text 34"/>
          <p:cNvSpPr/>
          <p:nvPr/>
        </p:nvSpPr>
        <p:spPr>
          <a:xfrm>
            <a:off x="886968" y="522122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 · LlamaIndex · Pydantic-AI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224528" y="5221224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blocks: chains, RAG plumbing, typed agents.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9116568" y="5221224"/>
            <a:ext cx="2325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 </a:t>
            </a:r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Glue, retrieval, type-safe outputs.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8 · THE LAST MILE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Production: demos vs. systems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97427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018915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040404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061892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10833811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1" name="Shape 8"/>
          <p:cNvSpPr/>
          <p:nvPr/>
        </p:nvSpPr>
        <p:spPr>
          <a:xfrm>
            <a:off x="1104869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2" name="Shape 9"/>
          <p:cNvSpPr/>
          <p:nvPr/>
        </p:nvSpPr>
        <p:spPr>
          <a:xfrm>
            <a:off x="11263579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3" name="Shape 10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8 OF 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" y="153619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a notebook from a product the team can trust. None of it is the model — all of it is operations.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2103120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1248" y="2377440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505456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36192" y="2395728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877824" y="3035808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step, token &amp; cost. LangSmith / Langfuse.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374794" y="2103120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49114" y="2377440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130" y="2505456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44058" y="2395728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&amp; Safety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685690" y="3035808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prompt injection, PII leaks, unsafe output.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182661" y="2103120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456981" y="2377440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997" y="2505456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51925" y="2395728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493557" y="3035808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sets + LLM-as-judge. Catch regressions in CI.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66928" y="4005072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841248" y="4279392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407408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36192" y="4297680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Optimization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877824" y="4937760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route to cheaper models, trim context.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4374794" y="4005072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649114" y="4279392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130" y="4407408"/>
            <a:ext cx="310896" cy="31089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44058" y="4297680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Human-in-Loop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4685690" y="4937760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for risky or irreversible actions.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8182661" y="4005072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8456981" y="4279392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4997" y="4407408"/>
            <a:ext cx="310896" cy="31089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151925" y="4297680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45" name="Text 36"/>
          <p:cNvSpPr/>
          <p:nvPr/>
        </p:nvSpPr>
        <p:spPr>
          <a:xfrm>
            <a:off x="8493557" y="4937760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Fallbacks, retries, graceful degradation, limits.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end-to-end reference architecture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214884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2148840"/>
            <a:ext cx="169164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22951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" y="2660904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304288" y="2446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07208" y="214884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07208" y="2148840"/>
            <a:ext cx="201168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2944368" y="22951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916936" y="26609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rate limit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64608" y="2446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367528" y="2148840"/>
            <a:ext cx="2377440" cy="1051560"/>
          </a:xfrm>
          <a:prstGeom prst="roundRect">
            <a:avLst>
              <a:gd name="adj" fmla="val 7826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67528" y="2148840"/>
            <a:ext cx="2377440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5"/>
          <p:cNvSpPr/>
          <p:nvPr/>
        </p:nvSpPr>
        <p:spPr>
          <a:xfrm>
            <a:off x="5504688" y="22951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77256" y="266090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agent loop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73368" y="32186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↓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898648" y="3840480"/>
            <a:ext cx="2331720" cy="1097280"/>
          </a:xfrm>
          <a:prstGeom prst="roundRect">
            <a:avLst>
              <a:gd name="adj" fmla="val 7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898648" y="3840480"/>
            <a:ext cx="2331720" cy="6400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3" name="Text 20"/>
          <p:cNvSpPr/>
          <p:nvPr/>
        </p:nvSpPr>
        <p:spPr>
          <a:xfrm>
            <a:off x="3035808" y="398678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008376" y="435254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· Sonnet · Haiku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390388" y="3840480"/>
            <a:ext cx="2331720" cy="1097280"/>
          </a:xfrm>
          <a:prstGeom prst="roundRect">
            <a:avLst>
              <a:gd name="adj" fmla="val 7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90388" y="3840480"/>
            <a:ext cx="233172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4"/>
          <p:cNvSpPr/>
          <p:nvPr/>
        </p:nvSpPr>
        <p:spPr>
          <a:xfrm>
            <a:off x="5527548" y="398678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/ MCP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500116" y="435254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· external APIs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882128" y="3840480"/>
            <a:ext cx="2331720" cy="1097280"/>
          </a:xfrm>
          <a:prstGeom prst="roundRect">
            <a:avLst>
              <a:gd name="adj" fmla="val 7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882128" y="3840480"/>
            <a:ext cx="2331720" cy="640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8"/>
          <p:cNvSpPr/>
          <p:nvPr/>
        </p:nvSpPr>
        <p:spPr>
          <a:xfrm>
            <a:off x="8019288" y="398678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991856" y="435254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· retrieval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064508" y="3456432"/>
            <a:ext cx="0" cy="384048"/>
          </a:xfrm>
          <a:prstGeom prst="line">
            <a:avLst/>
          </a:prstGeom>
          <a:noFill/>
          <a:ln w="15875">
            <a:solidFill>
              <a:srgbClr val="2A3A5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56248" y="3456432"/>
            <a:ext cx="0" cy="384048"/>
          </a:xfrm>
          <a:prstGeom prst="line">
            <a:avLst/>
          </a:prstGeom>
          <a:noFill/>
          <a:ln w="15875">
            <a:solidFill>
              <a:srgbClr val="2A3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47988" y="3456432"/>
            <a:ext cx="0" cy="384048"/>
          </a:xfrm>
          <a:prstGeom prst="line">
            <a:avLst/>
          </a:prstGeom>
          <a:noFill/>
          <a:ln w="15875">
            <a:solidFill>
              <a:srgbClr val="2A3A5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064508" y="3456432"/>
            <a:ext cx="4983480" cy="0"/>
          </a:xfrm>
          <a:prstGeom prst="line">
            <a:avLst/>
          </a:prstGeom>
          <a:noFill/>
          <a:ln w="15875">
            <a:solidFill>
              <a:srgbClr val="2A3A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927848" y="2148840"/>
            <a:ext cx="3696919" cy="1051560"/>
          </a:xfrm>
          <a:prstGeom prst="roundRect">
            <a:avLst>
              <a:gd name="adj" fmla="val 782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927848" y="2148840"/>
            <a:ext cx="3696919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Text 36"/>
          <p:cNvSpPr/>
          <p:nvPr/>
        </p:nvSpPr>
        <p:spPr>
          <a:xfrm>
            <a:off x="8065008" y="2295144"/>
            <a:ext cx="3422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8037576" y="2660904"/>
            <a:ext cx="3477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66928" y="5349240"/>
            <a:ext cx="5346040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541264"/>
            <a:ext cx="274320" cy="27432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1252728" y="5349240"/>
            <a:ext cx="452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 —  input/output safety on every hop</a:t>
            </a:r>
            <a:endParaRPr lang="en-US" sz="1250" dirty="0"/>
          </a:p>
        </p:txBody>
      </p:sp>
      <p:sp>
        <p:nvSpPr>
          <p:cNvPr id="44" name="Shape 40"/>
          <p:cNvSpPr/>
          <p:nvPr/>
        </p:nvSpPr>
        <p:spPr>
          <a:xfrm>
            <a:off x="6278728" y="5349240"/>
            <a:ext cx="5346040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5541264"/>
            <a:ext cx="274320" cy="2743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964528" y="5349240"/>
            <a:ext cx="452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 —  trace, cost &amp; eval across the run</a:t>
            </a:r>
            <a:endParaRPr lang="en-US" sz="1250" dirty="0"/>
          </a:p>
        </p:txBody>
      </p:sp>
      <p:sp>
        <p:nvSpPr>
          <p:cNvPr id="47" name="Shape 42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oval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40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72237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" y="640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13258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code review — the whole stack at once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66928" y="2240280"/>
            <a:ext cx="6858000" cy="3749040"/>
          </a:xfrm>
          <a:prstGeom prst="roundRect">
            <a:avLst>
              <a:gd name="adj" fmla="val 219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2395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  →  PARALLEL SPECIALISTS  →  SYNTHESIZE  →  SHIP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32688" y="2788920"/>
            <a:ext cx="6126480" cy="566928"/>
          </a:xfrm>
          <a:prstGeom prst="roundRect">
            <a:avLst>
              <a:gd name="adj" fmla="val 14516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2788920"/>
            <a:ext cx="73152" cy="56692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1" name="Text 8"/>
          <p:cNvSpPr/>
          <p:nvPr/>
        </p:nvSpPr>
        <p:spPr>
          <a:xfrm>
            <a:off x="1161288" y="27889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Agent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58768" y="27889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321808" y="27889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$0.08 / PR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2688" y="3465576"/>
            <a:ext cx="6126480" cy="566928"/>
          </a:xfrm>
          <a:prstGeom prst="roundRect">
            <a:avLst>
              <a:gd name="adj" fmla="val 14516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32688" y="3465576"/>
            <a:ext cx="73152" cy="5669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3"/>
          <p:cNvSpPr/>
          <p:nvPr/>
        </p:nvSpPr>
        <p:spPr>
          <a:xfrm>
            <a:off x="1161288" y="34655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Agent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58768" y="346557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321808" y="34655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$0.02 / PR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32688" y="4142232"/>
            <a:ext cx="6126480" cy="566928"/>
          </a:xfrm>
          <a:prstGeom prst="roundRect">
            <a:avLst>
              <a:gd name="adj" fmla="val 14516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32688" y="4142232"/>
            <a:ext cx="73152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8"/>
          <p:cNvSpPr/>
          <p:nvPr/>
        </p:nvSpPr>
        <p:spPr>
          <a:xfrm>
            <a:off x="1161288" y="41422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Agent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858768" y="41422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Haiku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321808" y="41422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$0.001 / PR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32688" y="4892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synthesize  →  critical? human-in-loop  →  post inline comments + Slack alert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32688" y="5285232"/>
            <a:ext cx="6126480" cy="548640"/>
          </a:xfrm>
          <a:prstGeom prst="roundRect">
            <a:avLst>
              <a:gd name="adj" fmla="val 15000"/>
            </a:avLst>
          </a:prstGeom>
          <a:solidFill>
            <a:srgbClr val="1C2C49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32688" y="528523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≈ </a:t>
            </a:r>
            <a:pPr algn="ct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 / PR</a:t>
            </a:r>
            <a:pPr algn="ctr" indent="0" marL="0">
              <a:buNone/>
            </a:pPr>
            <a:r>
              <a:rPr lang="en-US" sz="12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model tiering = 80× cheaper than all-Opus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790688" y="2240280"/>
            <a:ext cx="3834079" cy="3749040"/>
          </a:xfrm>
          <a:prstGeom prst="roundRect">
            <a:avLst>
              <a:gd name="adj" fmla="val 219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083296" y="2423160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ON DISPLAY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83296" y="2743200"/>
            <a:ext cx="3285439" cy="198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supervisor (parallel fan-out)</a:t>
            </a:r>
            <a:endParaRPr lang="en-US" sz="125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by severity</a:t>
            </a:r>
            <a:endParaRPr lang="en-US" sz="125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interrupt</a:t>
            </a:r>
            <a:endParaRPr lang="en-US" sz="125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model tiering</a:t>
            </a:r>
            <a:endParaRPr lang="en-US" sz="125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(Slack alert)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083296" y="4800600"/>
            <a:ext cx="3248863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83296" y="4937760"/>
            <a:ext cx="32854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Projects/project3_multiagent_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code_review_starter/main.py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083296" y="5468112"/>
            <a:ext cx="3285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placeholder mode — prints the architecture even with no key.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943600" cy="5943600"/>
          </a:xfrm>
          <a:prstGeom prst="oval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what — and what to remember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LADDER — climb only as far as you must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057400"/>
            <a:ext cx="5486400" cy="493776"/>
          </a:xfrm>
          <a:prstGeom prst="roundRect">
            <a:avLst>
              <a:gd name="adj" fmla="val 16667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" y="2057400"/>
            <a:ext cx="73152" cy="4937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05740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07008" y="205740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2660904"/>
            <a:ext cx="5486400" cy="493776"/>
          </a:xfrm>
          <a:prstGeom prst="roundRect">
            <a:avLst>
              <a:gd name="adj" fmla="val 16667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2660904"/>
            <a:ext cx="73152" cy="4937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2660904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07008" y="2660904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Structured prompt / output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66928" y="3264408"/>
            <a:ext cx="5486400" cy="493776"/>
          </a:xfrm>
          <a:prstGeom prst="roundRect">
            <a:avLst>
              <a:gd name="adj" fmla="val 16667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" y="3264408"/>
            <a:ext cx="73152" cy="4937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" y="3264408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07008" y="3264408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Tools (function calling)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867912"/>
            <a:ext cx="5486400" cy="493776"/>
          </a:xfrm>
          <a:prstGeom prst="roundRect">
            <a:avLst>
              <a:gd name="adj" fmla="val 16667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" y="3867912"/>
            <a:ext cx="73152" cy="4937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" y="3867912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07008" y="3867912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 (your data)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66928" y="4471416"/>
            <a:ext cx="5486400" cy="493776"/>
          </a:xfrm>
          <a:prstGeom prst="roundRect">
            <a:avLst>
              <a:gd name="adj" fmla="val 16667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6928" y="4471416"/>
            <a:ext cx="73152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768096" y="4471416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07008" y="4471416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 loop (ReAct)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66928" y="5074920"/>
            <a:ext cx="5486400" cy="493776"/>
          </a:xfrm>
          <a:prstGeom prst="roundRect">
            <a:avLst>
              <a:gd name="adj" fmla="val 16667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6928" y="5074920"/>
            <a:ext cx="73152" cy="4937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7"/>
          <p:cNvSpPr/>
          <p:nvPr/>
        </p:nvSpPr>
        <p:spPr>
          <a:xfrm>
            <a:off x="768096" y="507492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207008" y="507492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Multi-agent + frameworks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566928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rung adds power and cost. Most problems stop at rung 3–4.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510528" y="1691640"/>
            <a:ext cx="5114239" cy="4069080"/>
          </a:xfrm>
          <a:prstGeom prst="roundRect">
            <a:avLst>
              <a:gd name="adj" fmla="val 2022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876288" y="1920240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HOME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76288" y="2331720"/>
            <a:ext cx="438271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one layer. The workflow around it is the real work.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workflow; reach for an agent only when needed.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RAG turn a chatbot into a system that acts on truth.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loop by hand once — then graduate to LangGraph / MCP.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skip observability, guardrails, eval, cost. Products can’t.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510528" y="5897880"/>
            <a:ext cx="5114239" cy="502920"/>
          </a:xfrm>
          <a:prstGeom prst="roundRect">
            <a:avLst>
              <a:gd name="adj" fmla="val 16364"/>
            </a:avLst>
          </a:prstGeom>
          <a:solidFill>
            <a:srgbClr val="1622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10528" y="5897880"/>
            <a:ext cx="5114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</a:t>
            </a:r>
            <a:pPr algn="ctr"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6928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  ·  End-to-End AI Workflow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Prompt to Production — The End-to-End AI Workflow</dc:title>
  <dc:subject>PptxGenJS Presentation</dc:subject>
  <dc:creator>Ashish Chaurasiya</dc:creator>
  <cp:lastModifiedBy>Ashish Chaurasiya</cp:lastModifiedBy>
  <cp:revision>1</cp:revision>
  <dcterms:created xsi:type="dcterms:W3CDTF">2026-06-21T00:25:11Z</dcterms:created>
  <dcterms:modified xsi:type="dcterms:W3CDTF">2026-06-21T00:25:11Z</dcterms:modified>
</cp:coreProperties>
</file>