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oval">
            <a:avLst/>
          </a:prstGeom>
          <a:solidFill>
            <a:srgbClr val="0D948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91840"/>
            <a:ext cx="5943600" cy="5943600"/>
          </a:xfrm>
          <a:prstGeom prst="oval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 ·  20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</a:t>
            </a:r>
            <a:pPr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Workspace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Agents, MCP, Skills, and RAG come together to do real work — not just answer questions.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160520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60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24328" y="41605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96"/>
                </a:solidFill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98648" y="4160520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4160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41605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96"/>
                </a:solidFill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30368" y="4160520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4160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87768" y="41605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96"/>
                </a:solidFill>
              </a:rPr>
              <a:t>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62088" y="4160520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4160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852160"/>
            <a:ext cx="420624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Chaurasiya</a:t>
            </a:r>
            <a:pPr indent="0" marL="0">
              <a:buNone/>
            </a:pPr>
            <a:r>
              <a:rPr lang="en-US" sz="13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Friday Tech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AI Workspace?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5448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single script. It’s an environment where an agent connects to your tools, uses skills, retrieves your data, and completes real, multi-step tasks.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42316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423160"/>
            <a:ext cx="91440" cy="3383280"/>
          </a:xfrm>
          <a:prstGeom prst="rect">
            <a:avLst/>
          </a:prstGeom>
          <a:solidFill>
            <a:srgbClr val="6B7A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43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2724912"/>
            <a:ext cx="411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IN A BOX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572768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an LLM call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78408" y="3611880"/>
            <a:ext cx="4568800" cy="175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one question at a time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your data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touch your systems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copy-paste everything by hand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24448" y="242316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24448" y="2423160"/>
            <a:ext cx="91440" cy="338328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2743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30288" y="2724912"/>
            <a:ext cx="411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WORKSPACE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30288" y="2962656"/>
            <a:ext cx="411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that works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735928" y="3611880"/>
            <a:ext cx="4568800" cy="175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through multi-step tasks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your docs/data (RAG)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tools via MCP</a:t>
            </a:r>
            <a:endParaRPr lang="en-US" sz="1350" dirty="0"/>
          </a:p>
          <a:p>
            <a:pPr marL="203200" indent="-203200">
              <a:spcAft>
                <a:spcPts val="112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with guardrails + audit trail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of an AI Workspace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these four and you have a workspace that does real work. We’ll build each one — and demo two.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5323180" cy="1783080"/>
          </a:xfrm>
          <a:prstGeom prst="roundRect">
            <a:avLst>
              <a:gd name="adj" fmla="val 461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414016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BBF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61518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92808" y="2432304"/>
            <a:ext cx="376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92808" y="2670048"/>
            <a:ext cx="37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1892808" y="3163824"/>
            <a:ext cx="3722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— reasons, decides, orchestrates the loop.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1588" y="2103120"/>
            <a:ext cx="5323180" cy="1783080"/>
          </a:xfrm>
          <a:prstGeom prst="roundRect">
            <a:avLst>
              <a:gd name="adj" fmla="val 461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75908" y="2414016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22D3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76" y="2615184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27468" y="2432304"/>
            <a:ext cx="376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627468" y="2670048"/>
            <a:ext cx="37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7627468" y="3163824"/>
            <a:ext cx="3722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connectors — standard plug for tools &amp; data.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5323180" cy="1783080"/>
          </a:xfrm>
          <a:prstGeom prst="roundRect">
            <a:avLst>
              <a:gd name="adj" fmla="val 461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398264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A78B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9943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92808" y="4416552"/>
            <a:ext cx="376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892808" y="4654296"/>
            <a:ext cx="37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/ Tools</a:t>
            </a:r>
            <a:endParaRPr lang="en-US" sz="2300" dirty="0"/>
          </a:p>
        </p:txBody>
      </p:sp>
      <p:sp>
        <p:nvSpPr>
          <p:cNvPr id="24" name="Text 18"/>
          <p:cNvSpPr/>
          <p:nvPr/>
        </p:nvSpPr>
        <p:spPr>
          <a:xfrm>
            <a:off x="1892808" y="5148072"/>
            <a:ext cx="3722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 — capabilities the agent can invoke.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301588" y="4087368"/>
            <a:ext cx="5323180" cy="1783080"/>
          </a:xfrm>
          <a:prstGeom prst="roundRect">
            <a:avLst>
              <a:gd name="adj" fmla="val 461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75908" y="4398264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34D39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076" y="459943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27468" y="4416552"/>
            <a:ext cx="37687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7627468" y="4654296"/>
            <a:ext cx="376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300" dirty="0"/>
          </a:p>
        </p:txBody>
      </p:sp>
      <p:sp>
        <p:nvSpPr>
          <p:cNvPr id="30" name="Text 23"/>
          <p:cNvSpPr/>
          <p:nvPr/>
        </p:nvSpPr>
        <p:spPr>
          <a:xfrm>
            <a:off x="7627468" y="5148072"/>
            <a:ext cx="3722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— grounded in your own data.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60A5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IT UP FIRST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 — the workspace environment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7830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virtualenv + the agent stack + keys in .env. ~5 minutes.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dependencies so it’s reproducible for the team.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observability key (LangSmith/Langfuse) on day one.</a:t>
            </a:r>
            <a:endParaRPr lang="en-US" sz="14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+ a terminal you can demo from. That’s the whole setup.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4572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but essential: a clean, shared environment is what turns “works on my laptop” into a team capability.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44768" y="1737360"/>
            <a:ext cx="5479999" cy="4114800"/>
          </a:xfrm>
          <a:prstGeom prst="roundRect">
            <a:avLst>
              <a:gd name="adj" fmla="val 1333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45936" y="192024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10" name="Shape 7"/>
          <p:cNvSpPr/>
          <p:nvPr/>
        </p:nvSpPr>
        <p:spPr>
          <a:xfrm>
            <a:off x="6565392" y="192024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1" name="Shape 8"/>
          <p:cNvSpPr/>
          <p:nvPr/>
        </p:nvSpPr>
        <p:spPr>
          <a:xfrm>
            <a:off x="6784848" y="192024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9247327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2194560"/>
            <a:ext cx="5022799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isolated environment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&amp;&amp;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.venv/bin/activate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the workspace stack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anthropic \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langgraph fastmcp chromadb \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instructor rank-bm25 ragas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.env  (keys)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=sk-...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=sk-ant-...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LANGCHAIN_TRACING_V2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traces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THE BRAIN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— a reasoning loop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820095" y="566928"/>
            <a:ext cx="146304" cy="146304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7" name="Shape 4"/>
          <p:cNvSpPr/>
          <p:nvPr/>
        </p:nvSpPr>
        <p:spPr>
          <a:xfrm>
            <a:off x="1103955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125900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 1 OF 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" y="1783080"/>
            <a:ext cx="4937760" cy="190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the orchestrator: it decides what to do next.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loop: think → act (call a tool) → observe → repeat.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it can answer — or when a guard trips.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needed: a prompt, a parser, a while-loop.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6928" y="4617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guards (non-negotiable): max-iterations · timeout · $ budget · stuck-detection.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07608" y="1691640"/>
            <a:ext cx="5617159" cy="4160520"/>
          </a:xfrm>
          <a:prstGeom prst="roundRect">
            <a:avLst>
              <a:gd name="adj" fmla="val 1978"/>
            </a:avLst>
          </a:prstGeom>
          <a:solidFill>
            <a:srgbClr val="0E182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07608" y="1874520"/>
            <a:ext cx="5617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39128" y="233172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739128" y="2331720"/>
            <a:ext cx="82296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7013448" y="237744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013448" y="267919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“which tool gets me closer?”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39128" y="320040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39128" y="3200400"/>
            <a:ext cx="82296" cy="6583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8"/>
          <p:cNvSpPr/>
          <p:nvPr/>
        </p:nvSpPr>
        <p:spPr>
          <a:xfrm>
            <a:off x="7013448" y="324612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013448" y="354787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the tool with arguments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39128" y="406908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39128" y="4069080"/>
            <a:ext cx="82296" cy="6583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2"/>
          <p:cNvSpPr/>
          <p:nvPr/>
        </p:nvSpPr>
        <p:spPr>
          <a:xfrm>
            <a:off x="7013448" y="411480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013448" y="441655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the result back 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39128" y="4937760"/>
            <a:ext cx="4154119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739128" y="4937760"/>
            <a:ext cx="82296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6"/>
          <p:cNvSpPr/>
          <p:nvPr/>
        </p:nvSpPr>
        <p:spPr>
          <a:xfrm>
            <a:off x="7013448" y="4983480"/>
            <a:ext cx="36969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/ loop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013448" y="5285232"/>
            <a:ext cx="3696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done? respond. else → Think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633308" y="29352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633308" y="3803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633308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↓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THE CONNECTORS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— “USB-C for AI”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8200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1039551" y="566928"/>
            <a:ext cx="146304" cy="14630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1125900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 2 OF 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one standard interface so any host — Claude Desktop, Claude Code, an IDE — can use your tools and data. Write a connector once; reuse it everywhere.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331720"/>
            <a:ext cx="3442106" cy="2194560"/>
          </a:xfrm>
          <a:prstGeom prst="roundRect">
            <a:avLst>
              <a:gd name="adj" fmla="val 375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6968" y="2651760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8072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2715768"/>
            <a:ext cx="2161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14400" y="347472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agent can call — query a DB, hit an API, run a job.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74794" y="2331720"/>
            <a:ext cx="3442106" cy="2194560"/>
          </a:xfrm>
          <a:prstGeom prst="roundRect">
            <a:avLst>
              <a:gd name="adj" fmla="val 375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94834" y="2651760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82" y="28072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2074" y="2715768"/>
            <a:ext cx="2161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722266" y="347472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agent can read — files, DB rows, API responses.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82661" y="2331720"/>
            <a:ext cx="3442106" cy="2194560"/>
          </a:xfrm>
          <a:prstGeom prst="roundRect">
            <a:avLst>
              <a:gd name="adj" fmla="val 375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02701" y="2651760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149" y="28072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9941" y="2715768"/>
            <a:ext cx="21619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530133" y="347472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templates with arguments, shared across apps.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1C2C49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41248" y="489204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 (Claude Code / Desktop)   →   MCP CLIENT   →   YOUR MCP SERVER  (tools · resources · prompts)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HANDS-ON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MCP server in ~10 lines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8200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1039551" y="566928"/>
            <a:ext cx="146304" cy="14630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1125900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 2 OF 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1691640"/>
            <a:ext cx="6583680" cy="4160520"/>
          </a:xfrm>
          <a:prstGeom prst="roundRect">
            <a:avLst>
              <a:gd name="adj" fmla="val 1319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" y="187452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13" name="Shape 10"/>
          <p:cNvSpPr/>
          <p:nvPr/>
        </p:nvSpPr>
        <p:spPr>
          <a:xfrm>
            <a:off x="987552" y="187452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7008" y="187452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5" name="Text 12"/>
          <p:cNvSpPr/>
          <p:nvPr/>
        </p:nvSpPr>
        <p:spPr>
          <a:xfrm>
            <a:off x="4773168" y="1801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my_mcp_server.py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" y="214884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 install fastmcp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mcp.server.fastmcp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FastMCP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=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FastMCP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("my-tools-server")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query_db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limit: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"""Run a read-only SELECT, return JSON."""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run_select(sql, limit)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@mcp.resource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("file://docs/{name}")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get_doc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read(name)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mcp.run()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stdio (local) or HTTP+SSE (remote)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24928" y="1691640"/>
            <a:ext cx="4199839" cy="4160520"/>
          </a:xfrm>
          <a:prstGeom prst="roundRect">
            <a:avLst>
              <a:gd name="adj" fmla="val 197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17536" y="1901952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17536" y="2176272"/>
            <a:ext cx="3651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your host’s config — that’s it: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17536" y="2560320"/>
            <a:ext cx="3614623" cy="1691640"/>
          </a:xfrm>
          <a:prstGeom prst="roundRect">
            <a:avLst>
              <a:gd name="adj" fmla="val 3243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18704" y="274320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22" name="Shape 19"/>
          <p:cNvSpPr/>
          <p:nvPr/>
        </p:nvSpPr>
        <p:spPr>
          <a:xfrm>
            <a:off x="8138160" y="274320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57616" y="274320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4" name="Text 21"/>
          <p:cNvSpPr/>
          <p:nvPr/>
        </p:nvSpPr>
        <p:spPr>
          <a:xfrm>
            <a:off x="8954719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73568" y="3017520"/>
            <a:ext cx="31574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"mcpServers": {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"my-tools": {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"args":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["server.py"]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717536" y="4434840"/>
            <a:ext cx="36146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win:  </a:t>
            </a:r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now works in every app and model — write once.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THE HANDS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Tools — give the agent capabilities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8200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103955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1259007" y="566928"/>
            <a:ext cx="146304" cy="146304"/>
          </a:xfrm>
          <a:prstGeom prst="oval">
            <a:avLst/>
          </a:prstGeom>
          <a:solidFill>
            <a:srgbClr val="A78BFA"/>
          </a:solidFill>
          <a:ln/>
        </p:spPr>
      </p:sp>
      <p:sp>
        <p:nvSpPr>
          <p:cNvPr id="9" name="Shape 6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 3 OF 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" y="1783080"/>
            <a:ext cx="5029200" cy="190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“skill” = a capability you grant the agent = a tool.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+ schema (name, description, params) → register it.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UX — it decides if the agent picks it right.</a:t>
            </a:r>
            <a:endParaRPr lang="en-US" sz="1350" dirty="0"/>
          </a:p>
          <a:p>
            <a:pPr marL="203200" indent="-203200">
              <a:spcAft>
                <a:spcPts val="144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it: sandbox / allowlist / read-only · logging · rate-limit.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6928" y="4617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quality = agent reliability. Write tools like you write docs — for a smart but literal reader.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99048" y="1691640"/>
            <a:ext cx="5525719" cy="4160520"/>
          </a:xfrm>
          <a:prstGeom prst="roundRect">
            <a:avLst>
              <a:gd name="adj" fmla="val 1319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0216" y="187452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15" name="Shape 12"/>
          <p:cNvSpPr/>
          <p:nvPr/>
        </p:nvSpPr>
        <p:spPr>
          <a:xfrm>
            <a:off x="6519672" y="187452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6" name="Shape 13"/>
          <p:cNvSpPr/>
          <p:nvPr/>
        </p:nvSpPr>
        <p:spPr>
          <a:xfrm>
            <a:off x="6739128" y="187452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7" name="Text 14"/>
          <p:cNvSpPr/>
          <p:nvPr/>
        </p:nvSpPr>
        <p:spPr>
          <a:xfrm>
            <a:off x="9247327" y="1801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· registry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5080" y="2148840"/>
            <a:ext cx="5068519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=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ToolRegistry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@registry.register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"search_web",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"Search the web for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current info.",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{...},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search_web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(query): ...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 the agent its hands: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registry.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get_schemas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· THE KNOWLEDGE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— ground it in your data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820095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11039551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1259007" y="566928"/>
            <a:ext cx="146304" cy="146304"/>
          </a:xfrm>
          <a:prstGeom prst="oval">
            <a:avLst/>
          </a:prstGeom>
          <a:solidFill>
            <a:srgbClr val="2A3A5C"/>
          </a:solidFill>
          <a:ln/>
        </p:spPr>
      </p:sp>
      <p:sp>
        <p:nvSpPr>
          <p:cNvPr id="9" name="Shape 6"/>
          <p:cNvSpPr/>
          <p:nvPr/>
        </p:nvSpPr>
        <p:spPr>
          <a:xfrm>
            <a:off x="11478463" y="566928"/>
            <a:ext cx="146304" cy="146304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/>
          <p:nvPr/>
        </p:nvSpPr>
        <p:spPr>
          <a:xfrm>
            <a:off x="8881567" y="768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 4 OF 4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workspace memory of YOUR world — docs, tickets, wikis. Retrieve the right chunks into context, answer with citations, cut hallucination.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28600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26485" y="274320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89" y="288950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" y="356616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0080" y="3950208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~1000, overlap ~200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62697" y="3200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837017" y="228600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001609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496574" y="274320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878" y="288950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837017" y="356616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2910169" y="3950208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832787" y="3200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107107" y="228600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271699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766664" y="274320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88950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07107" y="356616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5180259" y="3950208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 / pgvector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102876" y="3200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7377196" y="228600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541788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036753" y="274320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057" y="2889504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77196" y="356616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7450348" y="3950208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BM25 + vector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9372966" y="3200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9647286" y="2286000"/>
            <a:ext cx="1977481" cy="2286000"/>
          </a:xfrm>
          <a:prstGeom prst="roundRect">
            <a:avLst>
              <a:gd name="adj" fmla="val 4162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9811878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10306842" y="2743200"/>
            <a:ext cx="658368" cy="658368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3146" y="2889504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647286" y="3566160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9720438" y="3950208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66928" y="49834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levers:  </a:t>
            </a:r>
            <a:pPr algn="ctr" indent="0" marL="0">
              <a:buNone/>
            </a:pPr>
            <a:r>
              <a:rPr lang="en-US" sz="13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· reranking · HyDE · </a:t>
            </a:r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measure with RAGAS (faithfulness, relevance) — not vibes.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assembled AI Workspace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2148840"/>
            <a:ext cx="169164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295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" y="2660904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04288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07208" y="214884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07208" y="2148840"/>
            <a:ext cx="274320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2295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16936" y="26609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· orchestrator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27848" y="2148840"/>
            <a:ext cx="3696919" cy="1051560"/>
          </a:xfrm>
          <a:prstGeom prst="roundRect">
            <a:avLst>
              <a:gd name="adj" fmla="val 782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27848" y="2148840"/>
            <a:ext cx="3696919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/>
          <p:nvPr/>
        </p:nvSpPr>
        <p:spPr>
          <a:xfrm>
            <a:off x="8065008" y="2295144"/>
            <a:ext cx="3422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37576" y="2660904"/>
            <a:ext cx="3477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+ cited + logged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96128" y="24917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6"/>
                </a:solidFill>
              </a:rPr>
              <a:t>works through 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95928" y="3218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406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4068" y="3840480"/>
            <a:ext cx="23317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379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systems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01294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012948" y="3840480"/>
            <a:ext cx="23317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4"/>
          <p:cNvSpPr/>
          <p:nvPr/>
        </p:nvSpPr>
        <p:spPr>
          <a:xfrm>
            <a:off x="315010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12267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capabilities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1828" y="3840480"/>
            <a:ext cx="2331720" cy="1097280"/>
          </a:xfrm>
          <a:prstGeom prst="roundRect">
            <a:avLst>
              <a:gd name="adj" fmla="val 7500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1828" y="3840480"/>
            <a:ext cx="233172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8"/>
          <p:cNvSpPr/>
          <p:nvPr/>
        </p:nvSpPr>
        <p:spPr>
          <a:xfrm>
            <a:off x="5618988" y="39867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91556" y="4352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+ memory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70992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7880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47688" y="3456432"/>
            <a:ext cx="0" cy="384048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709928" y="3456432"/>
            <a:ext cx="4937760" cy="0"/>
          </a:xfrm>
          <a:prstGeom prst="line">
            <a:avLst/>
          </a:prstGeom>
          <a:noFill/>
          <a:ln w="15875">
            <a:solidFill>
              <a:srgbClr val="2A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6928" y="5349240"/>
            <a:ext cx="5346040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541264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252728" y="5349240"/>
            <a:ext cx="452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—  safety on every action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278728" y="5349240"/>
            <a:ext cx="5346040" cy="658368"/>
          </a:xfrm>
          <a:prstGeom prst="roundRect">
            <a:avLst>
              <a:gd name="adj" fmla="val 12500"/>
            </a:avLst>
          </a:prstGeom>
          <a:solidFill>
            <a:srgbClr val="1622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5541264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64528" y="5349240"/>
            <a:ext cx="452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—  trace, cost &amp; eval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oval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223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" y="640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using its hands (tools)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21945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0A0F1C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" y="2377440"/>
            <a:ext cx="109728" cy="109728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2377440"/>
            <a:ext cx="109728" cy="109728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207008" y="2377440"/>
            <a:ext cx="109728" cy="10972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/>
          <p:nvPr/>
        </p:nvSpPr>
        <p:spPr>
          <a:xfrm>
            <a:off x="3767328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Level6_Agent_Patterns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04_react_pattern_practical.py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33756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968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" y="3886200"/>
            <a:ext cx="4937760" cy="176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which tool — we never told it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 chained for one task (Pillars 1 + 3)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 prints cost · iterations · tools</a:t>
            </a:r>
            <a:endParaRPr lang="en-US" sz="1250" dirty="0"/>
          </a:p>
          <a:p>
            <a:pPr marL="203200" indent="-203200">
              <a:spcAft>
                <a:spcPts val="128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Guards: timeout · budget · stuck-detection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10528" y="2194560"/>
            <a:ext cx="5114239" cy="3794760"/>
          </a:xfrm>
          <a:prstGeom prst="roundRect">
            <a:avLst>
              <a:gd name="adj" fmla="val 2169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30568" y="2377440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PILLARS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30568" y="2651760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 ·  3 Skills/Tools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830568" y="3154680"/>
            <a:ext cx="447415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0568" y="3273552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30568" y="3529584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Level6_Agent_Patterns/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04_react_pattern_practical.py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30568" y="4224528"/>
            <a:ext cx="4474159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0568" y="4334256"/>
            <a:ext cx="4474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30568" y="4590288"/>
            <a:ext cx="44741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safe (prints [NO_API_KEY]); walk the trace + show the loop in the editor.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oval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223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" y="640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workspace — multi-agent code review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66928" y="2240280"/>
            <a:ext cx="6858000" cy="3749040"/>
          </a:xfrm>
          <a:prstGeom prst="roundRect">
            <a:avLst>
              <a:gd name="adj" fmla="val 219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 →  AGENTS (parallel)  →  SYNTHESIZE  →  MCP ALERT  →  SHIP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32688" y="2788920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788920"/>
            <a:ext cx="73152" cy="5669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8"/>
          <p:cNvSpPr/>
          <p:nvPr/>
        </p:nvSpPr>
        <p:spPr>
          <a:xfrm>
            <a:off x="1161288" y="2788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58768" y="27889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321808" y="2788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$0.08 / PR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2688" y="3465576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3465576"/>
            <a:ext cx="73152" cy="5669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Agent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58768" y="34655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21808" y="34655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$0.02 / PR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32688" y="4142232"/>
            <a:ext cx="6126480" cy="566928"/>
          </a:xfrm>
          <a:prstGeom prst="roundRect">
            <a:avLst>
              <a:gd name="adj" fmla="val 1451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32688" y="4142232"/>
            <a:ext cx="73152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/>
          <p:nvPr/>
        </p:nvSpPr>
        <p:spPr>
          <a:xfrm>
            <a:off x="1161288" y="4142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Agent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58768" y="41422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21808" y="41422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$0.001 / PR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32688" y="4892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synthesize → critical? human-in-loop → post comments + Slack via MCP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32688" y="5285232"/>
            <a:ext cx="6126480" cy="548640"/>
          </a:xfrm>
          <a:prstGeom prst="roundRect">
            <a:avLst>
              <a:gd name="adj" fmla="val 15000"/>
            </a:avLst>
          </a:prstGeom>
          <a:solidFill>
            <a:srgbClr val="1C2C49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32688" y="52852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</a:t>
            </a:r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 / PR</a:t>
            </a:r>
            <a:pPr algn="ctr" indent="0" marL="0">
              <a:buNone/>
            </a:pPr>
            <a:r>
              <a:rPr lang="en-US" sz="12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model tiering = ~80× cheaper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790688" y="2240280"/>
            <a:ext cx="3834079" cy="3749040"/>
          </a:xfrm>
          <a:prstGeom prst="roundRect">
            <a:avLst>
              <a:gd name="adj" fmla="val 2195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083296" y="2423160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PILLARS, LIVE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83296" y="2743200"/>
            <a:ext cx="3285439" cy="198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multi-agent supervisor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Slack alert tool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per-agent review tools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human-in-the-loop</a:t>
            </a:r>
            <a:endParaRPr lang="en-US" sz="1250" dirty="0"/>
          </a:p>
          <a:p>
            <a:pPr marL="203200" indent="-203200">
              <a:spcAft>
                <a:spcPts val="104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model tiering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83296" y="4800600"/>
            <a:ext cx="3248863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83296" y="4937760"/>
            <a:ext cx="32854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Projects/project3_multiagent_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code_review_starter/main.py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083296" y="5468112"/>
            <a:ext cx="3285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key — prints the architecture.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TRUSTWORTHY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&amp; observability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3619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that acts on real systems needs brakes and a dashboard. This is what makes the team — and the manager — trust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50545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77824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prompt injection, PII leaks, unsafe output.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4794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49114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130" y="250545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4058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85690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step, token &amp; dollar. LangSmith / Langfuse.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82661" y="2103120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56981" y="2377440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997" y="250545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51925" y="2395728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493557" y="3035808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sets + LLM-as-judge, run in CI.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66928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41248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0740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36192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77824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caching, model tiering per step.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74794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49114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130" y="4407408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44058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Human-in-Loop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685690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on risky / irreversible actions.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82661" y="4005072"/>
            <a:ext cx="3442106" cy="1627632"/>
          </a:xfrm>
          <a:prstGeom prst="roundRect">
            <a:avLst>
              <a:gd name="adj" fmla="val 505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456981" y="4279392"/>
            <a:ext cx="566928" cy="566928"/>
          </a:xfrm>
          <a:prstGeom prst="oval">
            <a:avLst/>
          </a:prstGeom>
          <a:solidFill>
            <a:srgbClr val="1C2C49"/>
          </a:solidFill>
          <a:ln w="15875">
            <a:solidFill>
              <a:srgbClr val="A78BF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997" y="4407408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51925" y="4297680"/>
            <a:ext cx="23448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tools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493557" y="4937760"/>
            <a:ext cx="28934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allowlists, read-only, rate limits.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943600" cy="5943600"/>
          </a:xfrm>
          <a:prstGeom prst="oval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your AI Workspace — in order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1783080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783080"/>
            <a:ext cx="73152" cy="56692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783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24528" y="17830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stack + .env keys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414016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414016"/>
            <a:ext cx="73152" cy="5669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414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24140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agent loop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24528" y="24140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think → act → observe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044952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" y="3044952"/>
            <a:ext cx="73152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0449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80160" y="30449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tool (skill)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24528" y="30449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+ schema + registry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3675888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" y="3675888"/>
            <a:ext cx="73152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3675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80160" y="36758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it as MCP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224528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apps &amp; models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4306824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6928" y="4306824"/>
            <a:ext cx="73152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6"/>
          <p:cNvSpPr/>
          <p:nvPr/>
        </p:nvSpPr>
        <p:spPr>
          <a:xfrm>
            <a:off x="768096" y="430682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80160" y="43068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RAG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224528" y="4306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it in your data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" y="4937760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6928" y="4937760"/>
            <a:ext cx="73152" cy="5669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Text 31"/>
          <p:cNvSpPr/>
          <p:nvPr/>
        </p:nvSpPr>
        <p:spPr>
          <a:xfrm>
            <a:off x="768096" y="49377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80160" y="4937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+ observability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224528" y="4937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traces + budgets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" y="5568696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66928" y="5568696"/>
            <a:ext cx="73152" cy="56692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9" name="Text 36"/>
          <p:cNvSpPr/>
          <p:nvPr/>
        </p:nvSpPr>
        <p:spPr>
          <a:xfrm>
            <a:off x="768096" y="556869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280160" y="55686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multi-agent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224528" y="55686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+ supervisor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790688" y="1783080"/>
            <a:ext cx="3834079" cy="4434840"/>
          </a:xfrm>
          <a:prstGeom prst="roundRect">
            <a:avLst>
              <a:gd name="adj" fmla="val 2146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156448" y="201168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156448" y="2377440"/>
            <a:ext cx="3102559" cy="2341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small, low-risk use-case (e.g. internal-docs Q&amp;A).</a:t>
            </a:r>
            <a:endParaRPr lang="en-US" sz="13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an eval from day one.</a:t>
            </a:r>
            <a:endParaRPr lang="en-US" sz="13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get you a working workspace.</a:t>
            </a:r>
            <a:endParaRPr lang="en-US" sz="13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make it production-grade.</a:t>
            </a:r>
            <a:endParaRPr lang="en-US" sz="1300" dirty="0"/>
          </a:p>
          <a:p>
            <a:pPr marL="203200" indent="-203200">
              <a:spcAft>
                <a:spcPts val="16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 lands by step 5 — don’t over-build.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Don’t over-engineer the workspace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pillar only when the task needs it. The simplest workspace that solves the problem wins.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103120"/>
            <a:ext cx="82296" cy="60350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6"/>
          <p:cNvSpPr/>
          <p:nvPr/>
        </p:nvSpPr>
        <p:spPr>
          <a:xfrm>
            <a:off x="886968" y="21031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answer from a prompt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07808" y="21031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56448" y="2103120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LLM call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2798064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798064"/>
            <a:ext cx="82296" cy="6035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" y="279806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our docs/data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07808" y="279806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156448" y="2798064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RAG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49300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" y="3493008"/>
            <a:ext cx="82296" cy="60350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/>
          <p:nvPr/>
        </p:nvSpPr>
        <p:spPr>
          <a:xfrm>
            <a:off x="886968" y="349300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system (DB, API, Git)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07808" y="349300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156448" y="3493008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Skills / Tools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4187952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" y="4187952"/>
            <a:ext cx="82296" cy="6035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1"/>
          <p:cNvSpPr/>
          <p:nvPr/>
        </p:nvSpPr>
        <p:spPr>
          <a:xfrm>
            <a:off x="886968" y="418795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tools across apps/models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07808" y="418795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156448" y="4187952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MCP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66928" y="4882896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6928" y="4882896"/>
            <a:ext cx="82296" cy="60350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6"/>
          <p:cNvSpPr/>
          <p:nvPr/>
        </p:nvSpPr>
        <p:spPr>
          <a:xfrm>
            <a:off x="886968" y="4882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dynamic decisions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07808" y="488289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156448" y="4882896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Agent loop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557784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6928" y="5577840"/>
            <a:ext cx="82296" cy="60350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Text 31"/>
          <p:cNvSpPr/>
          <p:nvPr/>
        </p:nvSpPr>
        <p:spPr>
          <a:xfrm>
            <a:off x="886968" y="557784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need: 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specialties in parallel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607808" y="55778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→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156448" y="5577840"/>
            <a:ext cx="32854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Multi-agent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oval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75488"/>
            <a:ext cx="640080" cy="640080"/>
          </a:xfrm>
          <a:prstGeom prst="oval">
            <a:avLst/>
          </a:prstGeom>
          <a:solidFill>
            <a:srgbClr val="1C2C49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644652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8176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7132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Workspace, in one breath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10312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2494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BF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408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1031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10128" y="21031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decides, orchestrates the loop.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294436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0906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2D3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8211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29443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310128" y="294436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plug for tools &amp; data.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6928" y="378561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9319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98448" y="37856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/ Tools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3310128" y="378561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the agent can invoke.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66928" y="462686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16223B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1520" y="47731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4D39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646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46268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3310128" y="46268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data.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44768" y="1737360"/>
            <a:ext cx="5479999" cy="4023360"/>
          </a:xfrm>
          <a:prstGeom prst="roundRect">
            <a:avLst>
              <a:gd name="adj" fmla="val 2045"/>
            </a:avLst>
          </a:prstGeom>
          <a:solidFill>
            <a:srgbClr val="1C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510528" y="1965960"/>
            <a:ext cx="4748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HOME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510528" y="2331720"/>
            <a:ext cx="474847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= Agent + MCP + Skills + RAG, working together.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loop by hand once; you’ll understand the whole thing.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makes a tool reusable everywhere — write once.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it in YOUR data; guardrails make it safe.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low-risk use-case. Most value lands by step 5.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6144768" y="5897880"/>
            <a:ext cx="5479999" cy="502920"/>
          </a:xfrm>
          <a:prstGeom prst="roundRect">
            <a:avLst>
              <a:gd name="adj" fmla="val 16364"/>
            </a:avLst>
          </a:prstGeom>
          <a:solidFill>
            <a:srgbClr val="1622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144768" y="5897880"/>
            <a:ext cx="54799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</a:t>
            </a:r>
            <a:pPr algn="ctr"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66928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 Workspace  ·  Agents · MCP · Skills · RAG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795967" y="6455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 Workspace — Agents, MCP, Skills, RAG</dc:title>
  <dc:subject>PptxGenJS Presentation</dc:subject>
  <dc:creator>Ashish Chaurasiya</dc:creator>
  <cp:lastModifiedBy>Ashish Chaurasiya</cp:lastModifiedBy>
  <cp:revision>1</cp:revision>
  <dcterms:created xsi:type="dcterms:W3CDTF">2026-06-21T04:52:43Z</dcterms:created>
  <dcterms:modified xsi:type="dcterms:W3CDTF">2026-06-21T04:52:43Z</dcterms:modified>
</cp:coreProperties>
</file>